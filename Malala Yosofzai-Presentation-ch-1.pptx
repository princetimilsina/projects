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Montserrat Ultra-Bold" charset="1" panose="00000900000000000000"/>
      <p:regular r:id="rId21"/>
    </p:embeddedFont>
    <p:embeddedFont>
      <p:font typeface="Montserrat Ultra-Bold Italics" charset="1" panose="00000900000000000000"/>
      <p:regular r:id="rId22"/>
    </p:embeddedFont>
    <p:embeddedFont>
      <p:font typeface="Montserrat" charset="1" panose="00000500000000000000"/>
      <p:regular r:id="rId23"/>
    </p:embeddedFont>
    <p:embeddedFont>
      <p:font typeface="Poppins Bold" charset="1" panose="00000800000000000000"/>
      <p:regular r:id="rId24"/>
    </p:embeddedFont>
    <p:embeddedFont>
      <p:font typeface="Montserrat Bold" charset="1" panose="00000800000000000000"/>
      <p:regular r:id="rId25"/>
    </p:embeddedFont>
    <p:embeddedFont>
      <p:font typeface="Poppins" charset="1" panose="00000500000000000000"/>
      <p:regular r:id="rId26"/>
    </p:embeddedFont>
    <p:embeddedFont>
      <p:font typeface="Poppins Ultra-Bold" charset="1" panose="0000090000000000000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svg" Type="http://schemas.openxmlformats.org/officeDocument/2006/relationships/image"/><Relationship Id="rId12" Target="../media/image21.png" Type="http://schemas.openxmlformats.org/officeDocument/2006/relationships/image"/><Relationship Id="rId13" Target="../media/image22.svg" Type="http://schemas.openxmlformats.org/officeDocument/2006/relationships/image"/><Relationship Id="rId14" Target="../media/image23.png" Type="http://schemas.openxmlformats.org/officeDocument/2006/relationships/image"/><Relationship Id="rId15" Target="../media/image24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26.png" Type="http://schemas.openxmlformats.org/officeDocument/2006/relationships/image"/><Relationship Id="rId6" Target="../media/image2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png" Type="http://schemas.openxmlformats.org/officeDocument/2006/relationships/image"/><Relationship Id="rId11" Target="../media/image32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https://i.guim.co.uk/img/static/sys-images/Guardian/Pix/pictures/2009/10/2/1254506981239/Dr-Muhammad-Naeem-Khan-001.jpg?width=465&amp;dpr=1&amp;s=none&amp;crop=none" TargetMode="External" Type="http://schemas.openxmlformats.org/officeDocument/2006/relationships/hyperlink"/><Relationship Id="rId5" Target="https://i.guim.co.uk/img/static/sys-images/Guardian/Pix/pictures/2009/10/2/1254506981239/Dr-Muhammad-Naeem-Khan-001.jpg?width=465&amp;dpr=1&amp;s=none&amp;crop=none" TargetMode="External" Type="http://schemas.openxmlformats.org/officeDocument/2006/relationships/hyperlink"/><Relationship Id="rId6" Target="https://i.guim.co.uk/img/static/sys-images/Guardian/Pix/pictures/2009/10/2/1254506981239/Dr-Muhammad-Naeem-Khan-001.jpg?width=465&amp;dpr=1&amp;s=none&amp;crop=none" TargetMode="External" Type="http://schemas.openxmlformats.org/officeDocument/2006/relationships/hyperlink"/><Relationship Id="rId7" Target="https://i.guim.co.uk/img/static/sys-images/Guardian/Pix/pictures/2009/10/2/1254506981239/Dr-Muhammad-Naeem-Khan-001.jpg?width=465&amp;dpr=1&amp;s=none&amp;crop=none" TargetMode="External" Type="http://schemas.openxmlformats.org/officeDocument/2006/relationships/hyperlink"/><Relationship Id="rId8" Target="https://i.guim.co.uk/img/static/sys-images/Guardian/Pix/pictures/2009/10/2/1254506981239/Dr-Muhammad-Naeem-Khan-001.jpg?width=465&amp;dpr=1&amp;s=none&amp;crop=none" TargetMode="External" Type="http://schemas.openxmlformats.org/officeDocument/2006/relationships/hyperlink"/><Relationship Id="rId9" Target="../media/image30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i.guim.co.uk/img/static/sys-images/Guardian/Pix/pictures/2009/10/2/1254506981239/Dr-Muhammad-Naeem-Khan-001.jpg?width=465&amp;dpr=1&amp;s=none&amp;crop=none" TargetMode="External" Type="http://schemas.openxmlformats.org/officeDocument/2006/relationships/hyperlink"/><Relationship Id="rId11" Target="https://i.guim.co.uk/img/static/sys-images/Guardian/Pix/pictures/2009/10/2/1254506981239/Dr-Muhammad-Naeem-Khan-001.jpg?width=465&amp;dpr=1&amp;s=none&amp;crop=none" TargetMode="External" Type="http://schemas.openxmlformats.org/officeDocument/2006/relationships/hyperlink"/><Relationship Id="rId12" Target="https://i.guim.co.uk/img/static/sys-images/Guardian/Pix/pictures/2009/10/2/1254506981239/Dr-Muhammad-Naeem-Khan-001.jpg?width=465&amp;dpr=1&amp;s=none&amp;crop=none" TargetMode="External" Type="http://schemas.openxmlformats.org/officeDocument/2006/relationships/hyperlink"/><Relationship Id="rId13" Target="https://i.guim.co.uk/img/static/sys-images/Guardian/Pix/pictures/2009/10/2/1254506981239/Dr-Muhammad-Naeem-Khan-001.jpg?width=465&amp;dpr=1&amp;s=none&amp;crop=none" TargetMode="External" Type="http://schemas.openxmlformats.org/officeDocument/2006/relationships/hyperlink"/><Relationship Id="rId14" Target="https://i.guim.co.uk/img/static/sys-images/Guardian/Pix/pictures/2009/10/2/1254506981239/Dr-Muhammad-Naeem-Khan-001.jpg?width=465&amp;dpr=1&amp;s=none&amp;crop=none" TargetMode="External" Type="http://schemas.openxmlformats.org/officeDocument/2006/relationships/hyperlink"/><Relationship Id="rId15" Target="../media/image37.jpeg" Type="http://schemas.openxmlformats.org/officeDocument/2006/relationships/image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5.png" Type="http://schemas.openxmlformats.org/officeDocument/2006/relationships/image"/><Relationship Id="rId7" Target="../media/image36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Relationship Id="rId6" Target="../media/image38.jpeg" Type="http://schemas.openxmlformats.org/officeDocument/2006/relationships/image"/><Relationship Id="rId7" Target="../media/image39.png" Type="http://schemas.openxmlformats.org/officeDocument/2006/relationships/image"/><Relationship Id="rId8" Target="../media/image40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Relationship Id="rId6" Target="../media/image39.png" Type="http://schemas.openxmlformats.org/officeDocument/2006/relationships/image"/><Relationship Id="rId7" Target="../media/image40.svg" Type="http://schemas.openxmlformats.org/officeDocument/2006/relationships/image"/><Relationship Id="rId8" Target="../media/image41.jpeg" Type="http://schemas.openxmlformats.org/officeDocument/2006/relationships/image"/><Relationship Id="rId9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44046" y="-3644051"/>
            <a:ext cx="10775984" cy="10775984"/>
          </a:xfrm>
          <a:custGeom>
            <a:avLst/>
            <a:gdLst/>
            <a:ahLst/>
            <a:cxnLst/>
            <a:rect r="r" b="b" t="t" l="l"/>
            <a:pathLst>
              <a:path h="10775984" w="10775984">
                <a:moveTo>
                  <a:pt x="0" y="0"/>
                </a:moveTo>
                <a:lnTo>
                  <a:pt x="10775984" y="0"/>
                </a:lnTo>
                <a:lnTo>
                  <a:pt x="10775984" y="10775984"/>
                </a:lnTo>
                <a:lnTo>
                  <a:pt x="0" y="107759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001029" y="1409700"/>
            <a:ext cx="3975243" cy="3696976"/>
          </a:xfrm>
          <a:custGeom>
            <a:avLst/>
            <a:gdLst/>
            <a:ahLst/>
            <a:cxnLst/>
            <a:rect r="r" b="b" t="t" l="l"/>
            <a:pathLst>
              <a:path h="3696976" w="3975243">
                <a:moveTo>
                  <a:pt x="0" y="0"/>
                </a:moveTo>
                <a:lnTo>
                  <a:pt x="3975243" y="0"/>
                </a:lnTo>
                <a:lnTo>
                  <a:pt x="3975243" y="3696976"/>
                </a:lnTo>
                <a:lnTo>
                  <a:pt x="0" y="36969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265953" y="6453803"/>
            <a:ext cx="12355882" cy="12355882"/>
          </a:xfrm>
          <a:custGeom>
            <a:avLst/>
            <a:gdLst/>
            <a:ahLst/>
            <a:cxnLst/>
            <a:rect r="r" b="b" t="t" l="l"/>
            <a:pathLst>
              <a:path h="12355882" w="12355882">
                <a:moveTo>
                  <a:pt x="0" y="0"/>
                </a:moveTo>
                <a:lnTo>
                  <a:pt x="12355882" y="0"/>
                </a:lnTo>
                <a:lnTo>
                  <a:pt x="12355882" y="12355882"/>
                </a:lnTo>
                <a:lnTo>
                  <a:pt x="0" y="123558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299349" y="2181225"/>
            <a:ext cx="13689301" cy="3653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87"/>
              </a:lnSpc>
            </a:pPr>
            <a:r>
              <a:rPr lang="en-US" b="true" sz="30331" spc="-2729">
                <a:solidFill>
                  <a:srgbClr val="29396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roup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99349" y="5113857"/>
            <a:ext cx="13689301" cy="3113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68"/>
              </a:lnSpc>
            </a:pPr>
            <a:r>
              <a:rPr lang="en-US" b="true" sz="25941" i="true" spc="-2334">
                <a:solidFill>
                  <a:srgbClr val="293960"/>
                </a:solidFill>
                <a:latin typeface="Montserrat Ultra-Bold Italics"/>
                <a:ea typeface="Montserrat Ultra-Bold Italics"/>
                <a:cs typeface="Montserrat Ultra-Bold Italics"/>
                <a:sym typeface="Montserrat Ultra-Bold Italics"/>
              </a:rPr>
              <a:t>project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628856" y="7359231"/>
            <a:ext cx="3967181" cy="868575"/>
            <a:chOff x="0" y="0"/>
            <a:chExt cx="1044854" cy="2287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4854" cy="228760"/>
            </a:xfrm>
            <a:custGeom>
              <a:avLst/>
              <a:gdLst/>
              <a:ahLst/>
              <a:cxnLst/>
              <a:rect r="r" b="b" t="t" l="l"/>
              <a:pathLst>
                <a:path h="228760" w="1044854">
                  <a:moveTo>
                    <a:pt x="114380" y="0"/>
                  </a:moveTo>
                  <a:lnTo>
                    <a:pt x="930474" y="0"/>
                  </a:lnTo>
                  <a:cubicBezTo>
                    <a:pt x="960809" y="0"/>
                    <a:pt x="989902" y="12051"/>
                    <a:pt x="1011353" y="33501"/>
                  </a:cubicBezTo>
                  <a:cubicBezTo>
                    <a:pt x="1032803" y="54952"/>
                    <a:pt x="1044854" y="84045"/>
                    <a:pt x="1044854" y="114380"/>
                  </a:cubicBezTo>
                  <a:lnTo>
                    <a:pt x="1044854" y="114380"/>
                  </a:lnTo>
                  <a:cubicBezTo>
                    <a:pt x="1044854" y="144716"/>
                    <a:pt x="1032803" y="173809"/>
                    <a:pt x="1011353" y="195259"/>
                  </a:cubicBezTo>
                  <a:cubicBezTo>
                    <a:pt x="989902" y="216710"/>
                    <a:pt x="960809" y="228760"/>
                    <a:pt x="930474" y="228760"/>
                  </a:cubicBezTo>
                  <a:lnTo>
                    <a:pt x="114380" y="228760"/>
                  </a:lnTo>
                  <a:cubicBezTo>
                    <a:pt x="84045" y="228760"/>
                    <a:pt x="54952" y="216710"/>
                    <a:pt x="33501" y="195259"/>
                  </a:cubicBezTo>
                  <a:cubicBezTo>
                    <a:pt x="12051" y="173809"/>
                    <a:pt x="0" y="144716"/>
                    <a:pt x="0" y="114380"/>
                  </a:cubicBezTo>
                  <a:lnTo>
                    <a:pt x="0" y="114380"/>
                  </a:lnTo>
                  <a:cubicBezTo>
                    <a:pt x="0" y="84045"/>
                    <a:pt x="12051" y="54952"/>
                    <a:pt x="33501" y="33501"/>
                  </a:cubicBezTo>
                  <a:cubicBezTo>
                    <a:pt x="54952" y="12051"/>
                    <a:pt x="84045" y="0"/>
                    <a:pt x="114380" y="0"/>
                  </a:cubicBezTo>
                  <a:close/>
                </a:path>
              </a:pathLst>
            </a:custGeom>
            <a:solidFill>
              <a:srgbClr val="EAF3B2"/>
            </a:solidFill>
            <a:ln w="28575" cap="rnd">
              <a:solidFill>
                <a:srgbClr val="29396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044854" cy="2668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265356" y="5740764"/>
            <a:ext cx="2444981" cy="2782339"/>
          </a:xfrm>
          <a:custGeom>
            <a:avLst/>
            <a:gdLst/>
            <a:ahLst/>
            <a:cxnLst/>
            <a:rect r="r" b="b" t="t" l="l"/>
            <a:pathLst>
              <a:path h="2782339" w="2444981">
                <a:moveTo>
                  <a:pt x="0" y="0"/>
                </a:moveTo>
                <a:lnTo>
                  <a:pt x="2444980" y="0"/>
                </a:lnTo>
                <a:lnTo>
                  <a:pt x="2444980" y="2782339"/>
                </a:lnTo>
                <a:lnTo>
                  <a:pt x="0" y="278233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177453" y="7932509"/>
            <a:ext cx="418583" cy="590594"/>
          </a:xfrm>
          <a:custGeom>
            <a:avLst/>
            <a:gdLst/>
            <a:ahLst/>
            <a:cxnLst/>
            <a:rect r="r" b="b" t="t" l="l"/>
            <a:pathLst>
              <a:path h="590594" w="418583">
                <a:moveTo>
                  <a:pt x="0" y="0"/>
                </a:moveTo>
                <a:lnTo>
                  <a:pt x="418583" y="0"/>
                </a:lnTo>
                <a:lnTo>
                  <a:pt x="418583" y="590594"/>
                </a:lnTo>
                <a:lnTo>
                  <a:pt x="0" y="59059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628856" y="7677695"/>
            <a:ext cx="3967181" cy="326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5"/>
              </a:lnSpc>
            </a:pPr>
            <a:r>
              <a:rPr lang="en-US" sz="2799" spc="-251">
                <a:solidFill>
                  <a:srgbClr val="293960"/>
                </a:solidFill>
                <a:latin typeface="Montserrat"/>
                <a:ea typeface="Montserrat"/>
                <a:cs typeface="Montserrat"/>
                <a:sym typeface="Montserrat"/>
              </a:rPr>
              <a:t>By: Group-8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589681" y="1114425"/>
            <a:ext cx="510863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5"/>
              </a:lnSpc>
            </a:pPr>
            <a:r>
              <a:rPr lang="en-US" sz="2500" spc="-225">
                <a:solidFill>
                  <a:srgbClr val="293960"/>
                </a:solidFill>
                <a:latin typeface="Montserrat"/>
                <a:ea typeface="Montserrat"/>
                <a:cs typeface="Montserrat"/>
                <a:sym typeface="Montserrat"/>
              </a:rPr>
              <a:t>Kathmandu Bernhardt College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2299349" y="1219200"/>
            <a:ext cx="2813990" cy="868575"/>
            <a:chOff x="0" y="0"/>
            <a:chExt cx="741133" cy="2287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41133" cy="228760"/>
            </a:xfrm>
            <a:custGeom>
              <a:avLst/>
              <a:gdLst/>
              <a:ahLst/>
              <a:cxnLst/>
              <a:rect r="r" b="b" t="t" l="l"/>
              <a:pathLst>
                <a:path h="228760" w="741133">
                  <a:moveTo>
                    <a:pt x="114380" y="0"/>
                  </a:moveTo>
                  <a:lnTo>
                    <a:pt x="626753" y="0"/>
                  </a:lnTo>
                  <a:cubicBezTo>
                    <a:pt x="657088" y="0"/>
                    <a:pt x="686182" y="12051"/>
                    <a:pt x="707632" y="33501"/>
                  </a:cubicBezTo>
                  <a:cubicBezTo>
                    <a:pt x="729082" y="54952"/>
                    <a:pt x="741133" y="84045"/>
                    <a:pt x="741133" y="114380"/>
                  </a:cubicBezTo>
                  <a:lnTo>
                    <a:pt x="741133" y="114380"/>
                  </a:lnTo>
                  <a:cubicBezTo>
                    <a:pt x="741133" y="144716"/>
                    <a:pt x="729082" y="173809"/>
                    <a:pt x="707632" y="195259"/>
                  </a:cubicBezTo>
                  <a:cubicBezTo>
                    <a:pt x="686182" y="216710"/>
                    <a:pt x="657088" y="228760"/>
                    <a:pt x="626753" y="228760"/>
                  </a:cubicBezTo>
                  <a:lnTo>
                    <a:pt x="114380" y="228760"/>
                  </a:lnTo>
                  <a:cubicBezTo>
                    <a:pt x="84045" y="228760"/>
                    <a:pt x="54952" y="216710"/>
                    <a:pt x="33501" y="195259"/>
                  </a:cubicBezTo>
                  <a:cubicBezTo>
                    <a:pt x="12051" y="173809"/>
                    <a:pt x="0" y="144716"/>
                    <a:pt x="0" y="114380"/>
                  </a:cubicBezTo>
                  <a:lnTo>
                    <a:pt x="0" y="114380"/>
                  </a:lnTo>
                  <a:cubicBezTo>
                    <a:pt x="0" y="84045"/>
                    <a:pt x="12051" y="54952"/>
                    <a:pt x="33501" y="33501"/>
                  </a:cubicBezTo>
                  <a:cubicBezTo>
                    <a:pt x="54952" y="12051"/>
                    <a:pt x="84045" y="0"/>
                    <a:pt x="114380" y="0"/>
                  </a:cubicBezTo>
                  <a:close/>
                </a:path>
              </a:pathLst>
            </a:custGeom>
            <a:solidFill>
              <a:srgbClr val="9FBAF1"/>
            </a:solidFill>
            <a:ln w="28575" cap="rnd">
              <a:solidFill>
                <a:srgbClr val="293960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741133" cy="2668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2299349" y="1537664"/>
            <a:ext cx="2813990" cy="326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5"/>
              </a:lnSpc>
            </a:pPr>
            <a:r>
              <a:rPr lang="en-US" sz="2799" spc="-251">
                <a:solidFill>
                  <a:srgbClr val="293960"/>
                </a:solidFill>
                <a:latin typeface="Montserrat"/>
                <a:ea typeface="Montserrat"/>
                <a:cs typeface="Montserrat"/>
                <a:sym typeface="Montserrat"/>
              </a:rPr>
              <a:t>English-11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413326" y="552450"/>
            <a:ext cx="2586038" cy="546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420"/>
              </a:lnSpc>
              <a:spcBef>
                <a:spcPct val="0"/>
              </a:spcBef>
            </a:pPr>
            <a:r>
              <a:rPr lang="en-US" b="true" sz="30300" spc="-2727">
                <a:solidFill>
                  <a:srgbClr val="293960"/>
                </a:solidFill>
                <a:latin typeface="Poppins Bold"/>
                <a:ea typeface="Poppins Bold"/>
                <a:cs typeface="Poppins Bold"/>
                <a:sym typeface="Poppins Bold"/>
              </a:rPr>
              <a:t>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672667" y="9808956"/>
            <a:ext cx="6956189" cy="195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9"/>
              </a:lnSpc>
            </a:pPr>
            <a:r>
              <a:rPr lang="en-US" sz="1700" spc="-153">
                <a:solidFill>
                  <a:srgbClr val="293960"/>
                </a:solidFill>
                <a:latin typeface="Montserrat"/>
                <a:ea typeface="Montserrat"/>
                <a:cs typeface="Montserrat"/>
                <a:sym typeface="Montserrat"/>
              </a:rPr>
              <a:t>© PrinceTimilsina 2025. All rights reserved.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39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504950"/>
            <a:ext cx="16230600" cy="1809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050"/>
              </a:lnSpc>
            </a:pPr>
            <a:r>
              <a:rPr lang="en-US" b="true" sz="15000" spc="-1350">
                <a:solidFill>
                  <a:srgbClr val="FEFEF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meet the group.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2547142" cy="796194"/>
            <a:chOff x="0" y="0"/>
            <a:chExt cx="670852" cy="20969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70852" cy="209697"/>
            </a:xfrm>
            <a:custGeom>
              <a:avLst/>
              <a:gdLst/>
              <a:ahLst/>
              <a:cxnLst/>
              <a:rect r="r" b="b" t="t" l="l"/>
              <a:pathLst>
                <a:path h="209697" w="670852">
                  <a:moveTo>
                    <a:pt x="104849" y="0"/>
                  </a:moveTo>
                  <a:lnTo>
                    <a:pt x="566004" y="0"/>
                  </a:lnTo>
                  <a:cubicBezTo>
                    <a:pt x="593811" y="0"/>
                    <a:pt x="620480" y="11047"/>
                    <a:pt x="640143" y="30709"/>
                  </a:cubicBezTo>
                  <a:cubicBezTo>
                    <a:pt x="659806" y="50372"/>
                    <a:pt x="670852" y="77041"/>
                    <a:pt x="670852" y="104849"/>
                  </a:cubicBezTo>
                  <a:lnTo>
                    <a:pt x="670852" y="104849"/>
                  </a:lnTo>
                  <a:cubicBezTo>
                    <a:pt x="670852" y="132656"/>
                    <a:pt x="659806" y="159325"/>
                    <a:pt x="640143" y="178988"/>
                  </a:cubicBezTo>
                  <a:cubicBezTo>
                    <a:pt x="620480" y="198651"/>
                    <a:pt x="593811" y="209697"/>
                    <a:pt x="566004" y="209697"/>
                  </a:cubicBezTo>
                  <a:lnTo>
                    <a:pt x="104849" y="209697"/>
                  </a:lnTo>
                  <a:cubicBezTo>
                    <a:pt x="77041" y="209697"/>
                    <a:pt x="50372" y="198651"/>
                    <a:pt x="30709" y="178988"/>
                  </a:cubicBezTo>
                  <a:cubicBezTo>
                    <a:pt x="11047" y="159325"/>
                    <a:pt x="0" y="132656"/>
                    <a:pt x="0" y="104849"/>
                  </a:cubicBezTo>
                  <a:lnTo>
                    <a:pt x="0" y="104849"/>
                  </a:lnTo>
                  <a:cubicBezTo>
                    <a:pt x="0" y="77041"/>
                    <a:pt x="11047" y="50372"/>
                    <a:pt x="30709" y="30709"/>
                  </a:cubicBezTo>
                  <a:cubicBezTo>
                    <a:pt x="50372" y="11047"/>
                    <a:pt x="77041" y="0"/>
                    <a:pt x="104849" y="0"/>
                  </a:cubicBezTo>
                  <a:close/>
                </a:path>
              </a:pathLst>
            </a:custGeom>
            <a:solidFill>
              <a:srgbClr val="9FBAF1"/>
            </a:solidFill>
            <a:ln w="28575" cap="rnd">
              <a:solidFill>
                <a:srgbClr val="293960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70852" cy="2477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715556" y="3188875"/>
            <a:ext cx="3543744" cy="796194"/>
            <a:chOff x="0" y="0"/>
            <a:chExt cx="933332" cy="2096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33332" cy="209697"/>
            </a:xfrm>
            <a:custGeom>
              <a:avLst/>
              <a:gdLst/>
              <a:ahLst/>
              <a:cxnLst/>
              <a:rect r="r" b="b" t="t" l="l"/>
              <a:pathLst>
                <a:path h="209697" w="933332">
                  <a:moveTo>
                    <a:pt x="104849" y="0"/>
                  </a:moveTo>
                  <a:lnTo>
                    <a:pt x="828483" y="0"/>
                  </a:lnTo>
                  <a:cubicBezTo>
                    <a:pt x="856291" y="0"/>
                    <a:pt x="882959" y="11047"/>
                    <a:pt x="902622" y="30709"/>
                  </a:cubicBezTo>
                  <a:cubicBezTo>
                    <a:pt x="922285" y="50372"/>
                    <a:pt x="933332" y="77041"/>
                    <a:pt x="933332" y="104849"/>
                  </a:cubicBezTo>
                  <a:lnTo>
                    <a:pt x="933332" y="104849"/>
                  </a:lnTo>
                  <a:cubicBezTo>
                    <a:pt x="933332" y="132656"/>
                    <a:pt x="922285" y="159325"/>
                    <a:pt x="902622" y="178988"/>
                  </a:cubicBezTo>
                  <a:cubicBezTo>
                    <a:pt x="882959" y="198651"/>
                    <a:pt x="856291" y="209697"/>
                    <a:pt x="828483" y="209697"/>
                  </a:cubicBezTo>
                  <a:lnTo>
                    <a:pt x="104849" y="209697"/>
                  </a:lnTo>
                  <a:cubicBezTo>
                    <a:pt x="77041" y="209697"/>
                    <a:pt x="50372" y="198651"/>
                    <a:pt x="30709" y="178988"/>
                  </a:cubicBezTo>
                  <a:cubicBezTo>
                    <a:pt x="11047" y="159325"/>
                    <a:pt x="0" y="132656"/>
                    <a:pt x="0" y="104849"/>
                  </a:cubicBezTo>
                  <a:lnTo>
                    <a:pt x="0" y="104849"/>
                  </a:lnTo>
                  <a:cubicBezTo>
                    <a:pt x="0" y="77041"/>
                    <a:pt x="11047" y="50372"/>
                    <a:pt x="30709" y="30709"/>
                  </a:cubicBezTo>
                  <a:cubicBezTo>
                    <a:pt x="50372" y="11047"/>
                    <a:pt x="77041" y="0"/>
                    <a:pt x="104849" y="0"/>
                  </a:cubicBezTo>
                  <a:close/>
                </a:path>
              </a:pathLst>
            </a:custGeom>
            <a:solidFill>
              <a:srgbClr val="9FBAF1"/>
            </a:solidFill>
            <a:ln w="28575" cap="rnd">
              <a:solidFill>
                <a:srgbClr val="29396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933332" cy="2477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1028700" y="1637871"/>
            <a:ext cx="417758" cy="589429"/>
          </a:xfrm>
          <a:custGeom>
            <a:avLst/>
            <a:gdLst/>
            <a:ahLst/>
            <a:cxnLst/>
            <a:rect r="r" b="b" t="t" l="l"/>
            <a:pathLst>
              <a:path h="589429" w="417758">
                <a:moveTo>
                  <a:pt x="417758" y="0"/>
                </a:moveTo>
                <a:lnTo>
                  <a:pt x="0" y="0"/>
                </a:lnTo>
                <a:lnTo>
                  <a:pt x="0" y="589429"/>
                </a:lnTo>
                <a:lnTo>
                  <a:pt x="417758" y="589429"/>
                </a:lnTo>
                <a:lnTo>
                  <a:pt x="41775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1310972"/>
            <a:ext cx="2547142" cy="326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6"/>
              </a:lnSpc>
            </a:pPr>
            <a:r>
              <a:rPr lang="en-US" sz="2800" spc="-252">
                <a:solidFill>
                  <a:srgbClr val="293960"/>
                </a:solidFill>
                <a:latin typeface="Montserrat"/>
                <a:ea typeface="Montserrat"/>
                <a:cs typeface="Montserrat"/>
                <a:sym typeface="Montserrat"/>
              </a:rPr>
              <a:t>/page 02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715556" y="3471147"/>
            <a:ext cx="3543744" cy="326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6"/>
              </a:lnSpc>
            </a:pPr>
            <a:r>
              <a:rPr lang="en-US" sz="2800" spc="-252">
                <a:solidFill>
                  <a:srgbClr val="293960"/>
                </a:solidFill>
                <a:latin typeface="Montserrat"/>
                <a:ea typeface="Montserrat"/>
                <a:cs typeface="Montserrat"/>
                <a:sym typeface="Montserrat"/>
              </a:rPr>
              <a:t>#groupproject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469035" y="4022651"/>
            <a:ext cx="5495358" cy="784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8"/>
              </a:lnSpc>
            </a:pPr>
            <a:r>
              <a:rPr lang="en-US" sz="4606" b="true">
                <a:solidFill>
                  <a:srgbClr val="FEFEF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Prince Timilsina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222126" y="5524818"/>
            <a:ext cx="3569040" cy="662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sz="3899" spc="-350">
                <a:solidFill>
                  <a:srgbClr val="FEFEFB"/>
                </a:solidFill>
                <a:latin typeface="Montserrat"/>
                <a:ea typeface="Montserrat"/>
                <a:cs typeface="Montserrat"/>
                <a:sym typeface="Montserrat"/>
              </a:rPr>
              <a:t>Kewal Shrestha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469035" y="4757420"/>
            <a:ext cx="5349930" cy="695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9"/>
              </a:lnSpc>
            </a:pPr>
            <a:r>
              <a:rPr lang="en-US" sz="4099" spc="-368">
                <a:solidFill>
                  <a:srgbClr val="FEFEFB"/>
                </a:solidFill>
                <a:latin typeface="Montserrat"/>
                <a:ea typeface="Montserrat"/>
                <a:cs typeface="Montserrat"/>
                <a:sym typeface="Montserrat"/>
              </a:rPr>
              <a:t>Aabhas Shrestha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222126" y="6263958"/>
            <a:ext cx="3569040" cy="662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sz="3899" spc="-350">
                <a:solidFill>
                  <a:srgbClr val="FEFEFB"/>
                </a:solidFill>
                <a:latin typeface="Montserrat"/>
                <a:ea typeface="Montserrat"/>
                <a:cs typeface="Montserrat"/>
                <a:sym typeface="Montserrat"/>
              </a:rPr>
              <a:t>Prabesh Yadav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222126" y="7003099"/>
            <a:ext cx="3569040" cy="662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sz="3899" spc="-350">
                <a:solidFill>
                  <a:srgbClr val="FEFEFB"/>
                </a:solidFill>
                <a:latin typeface="Montserrat"/>
                <a:ea typeface="Montserrat"/>
                <a:cs typeface="Montserrat"/>
                <a:sym typeface="Montserrat"/>
              </a:rPr>
              <a:t>Ashim Karki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327332" y="7200151"/>
            <a:ext cx="2806935" cy="3194236"/>
          </a:xfrm>
          <a:custGeom>
            <a:avLst/>
            <a:gdLst/>
            <a:ahLst/>
            <a:cxnLst/>
            <a:rect r="r" b="b" t="t" l="l"/>
            <a:pathLst>
              <a:path h="3194236" w="2806935">
                <a:moveTo>
                  <a:pt x="0" y="0"/>
                </a:moveTo>
                <a:lnTo>
                  <a:pt x="2806935" y="0"/>
                </a:lnTo>
                <a:lnTo>
                  <a:pt x="2806935" y="3194236"/>
                </a:lnTo>
                <a:lnTo>
                  <a:pt x="0" y="31942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6D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143779" y="383238"/>
            <a:ext cx="11489861" cy="11489861"/>
          </a:xfrm>
          <a:custGeom>
            <a:avLst/>
            <a:gdLst/>
            <a:ahLst/>
            <a:cxnLst/>
            <a:rect r="r" b="b" t="t" l="l"/>
            <a:pathLst>
              <a:path h="11489861" w="11489861">
                <a:moveTo>
                  <a:pt x="0" y="0"/>
                </a:moveTo>
                <a:lnTo>
                  <a:pt x="11489860" y="0"/>
                </a:lnTo>
                <a:lnTo>
                  <a:pt x="11489860" y="11489861"/>
                </a:lnTo>
                <a:lnTo>
                  <a:pt x="0" y="114898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655832" y="4993708"/>
            <a:ext cx="10872750" cy="3966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24"/>
              </a:lnSpc>
            </a:pPr>
            <a:r>
              <a:rPr lang="en-US" sz="17154" spc="-1543" b="true">
                <a:solidFill>
                  <a:srgbClr val="293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Education</a:t>
            </a:r>
          </a:p>
          <a:p>
            <a:pPr algn="l">
              <a:lnSpc>
                <a:spcPts val="14924"/>
              </a:lnSpc>
            </a:pPr>
            <a:r>
              <a:rPr lang="en-US" sz="17154" spc="-1543" b="true">
                <a:solidFill>
                  <a:srgbClr val="293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first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3032782" y="3297726"/>
            <a:ext cx="2547142" cy="796194"/>
            <a:chOff x="0" y="0"/>
            <a:chExt cx="670852" cy="20969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70852" cy="209697"/>
            </a:xfrm>
            <a:custGeom>
              <a:avLst/>
              <a:gdLst/>
              <a:ahLst/>
              <a:cxnLst/>
              <a:rect r="r" b="b" t="t" l="l"/>
              <a:pathLst>
                <a:path h="209697" w="670852">
                  <a:moveTo>
                    <a:pt x="104849" y="0"/>
                  </a:moveTo>
                  <a:lnTo>
                    <a:pt x="566004" y="0"/>
                  </a:lnTo>
                  <a:cubicBezTo>
                    <a:pt x="593811" y="0"/>
                    <a:pt x="620480" y="11047"/>
                    <a:pt x="640143" y="30709"/>
                  </a:cubicBezTo>
                  <a:cubicBezTo>
                    <a:pt x="659806" y="50372"/>
                    <a:pt x="670852" y="77041"/>
                    <a:pt x="670852" y="104849"/>
                  </a:cubicBezTo>
                  <a:lnTo>
                    <a:pt x="670852" y="104849"/>
                  </a:lnTo>
                  <a:cubicBezTo>
                    <a:pt x="670852" y="132656"/>
                    <a:pt x="659806" y="159325"/>
                    <a:pt x="640143" y="178988"/>
                  </a:cubicBezTo>
                  <a:cubicBezTo>
                    <a:pt x="620480" y="198651"/>
                    <a:pt x="593811" y="209697"/>
                    <a:pt x="566004" y="209697"/>
                  </a:cubicBezTo>
                  <a:lnTo>
                    <a:pt x="104849" y="209697"/>
                  </a:lnTo>
                  <a:cubicBezTo>
                    <a:pt x="77041" y="209697"/>
                    <a:pt x="50372" y="198651"/>
                    <a:pt x="30709" y="178988"/>
                  </a:cubicBezTo>
                  <a:cubicBezTo>
                    <a:pt x="11047" y="159325"/>
                    <a:pt x="0" y="132656"/>
                    <a:pt x="0" y="104849"/>
                  </a:cubicBezTo>
                  <a:lnTo>
                    <a:pt x="0" y="104849"/>
                  </a:lnTo>
                  <a:cubicBezTo>
                    <a:pt x="0" y="77041"/>
                    <a:pt x="11047" y="50372"/>
                    <a:pt x="30709" y="30709"/>
                  </a:cubicBezTo>
                  <a:cubicBezTo>
                    <a:pt x="50372" y="11047"/>
                    <a:pt x="77041" y="0"/>
                    <a:pt x="104849" y="0"/>
                  </a:cubicBezTo>
                  <a:close/>
                </a:path>
              </a:pathLst>
            </a:custGeom>
            <a:solidFill>
              <a:srgbClr val="FEFEFB"/>
            </a:solidFill>
            <a:ln w="28575" cap="rnd">
              <a:solidFill>
                <a:srgbClr val="293960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670852" cy="2477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442946" y="7210950"/>
            <a:ext cx="3543744" cy="796194"/>
            <a:chOff x="0" y="0"/>
            <a:chExt cx="933332" cy="20969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33332" cy="209697"/>
            </a:xfrm>
            <a:custGeom>
              <a:avLst/>
              <a:gdLst/>
              <a:ahLst/>
              <a:cxnLst/>
              <a:rect r="r" b="b" t="t" l="l"/>
              <a:pathLst>
                <a:path h="209697" w="933332">
                  <a:moveTo>
                    <a:pt x="104849" y="0"/>
                  </a:moveTo>
                  <a:lnTo>
                    <a:pt x="828483" y="0"/>
                  </a:lnTo>
                  <a:cubicBezTo>
                    <a:pt x="856291" y="0"/>
                    <a:pt x="882959" y="11047"/>
                    <a:pt x="902622" y="30709"/>
                  </a:cubicBezTo>
                  <a:cubicBezTo>
                    <a:pt x="922285" y="50372"/>
                    <a:pt x="933332" y="77041"/>
                    <a:pt x="933332" y="104849"/>
                  </a:cubicBezTo>
                  <a:lnTo>
                    <a:pt x="933332" y="104849"/>
                  </a:lnTo>
                  <a:cubicBezTo>
                    <a:pt x="933332" y="132656"/>
                    <a:pt x="922285" y="159325"/>
                    <a:pt x="902622" y="178988"/>
                  </a:cubicBezTo>
                  <a:cubicBezTo>
                    <a:pt x="882959" y="198651"/>
                    <a:pt x="856291" y="209697"/>
                    <a:pt x="828483" y="209697"/>
                  </a:cubicBezTo>
                  <a:lnTo>
                    <a:pt x="104849" y="209697"/>
                  </a:lnTo>
                  <a:cubicBezTo>
                    <a:pt x="77041" y="209697"/>
                    <a:pt x="50372" y="198651"/>
                    <a:pt x="30709" y="178988"/>
                  </a:cubicBezTo>
                  <a:cubicBezTo>
                    <a:pt x="11047" y="159325"/>
                    <a:pt x="0" y="132656"/>
                    <a:pt x="0" y="104849"/>
                  </a:cubicBezTo>
                  <a:lnTo>
                    <a:pt x="0" y="104849"/>
                  </a:lnTo>
                  <a:cubicBezTo>
                    <a:pt x="0" y="77041"/>
                    <a:pt x="11047" y="50372"/>
                    <a:pt x="30709" y="30709"/>
                  </a:cubicBezTo>
                  <a:cubicBezTo>
                    <a:pt x="50372" y="11047"/>
                    <a:pt x="77041" y="0"/>
                    <a:pt x="104849" y="0"/>
                  </a:cubicBezTo>
                  <a:close/>
                </a:path>
              </a:pathLst>
            </a:custGeom>
            <a:solidFill>
              <a:srgbClr val="FEFEFB"/>
            </a:solidFill>
            <a:ln w="28575" cap="rnd">
              <a:solidFill>
                <a:srgbClr val="29396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933332" cy="2477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028700" y="1461840"/>
            <a:ext cx="2004082" cy="1189924"/>
          </a:xfrm>
          <a:custGeom>
            <a:avLst/>
            <a:gdLst/>
            <a:ahLst/>
            <a:cxnLst/>
            <a:rect r="r" b="b" t="t" l="l"/>
            <a:pathLst>
              <a:path h="1189924" w="2004082">
                <a:moveTo>
                  <a:pt x="0" y="0"/>
                </a:moveTo>
                <a:lnTo>
                  <a:pt x="2004082" y="0"/>
                </a:lnTo>
                <a:lnTo>
                  <a:pt x="2004082" y="1189924"/>
                </a:lnTo>
                <a:lnTo>
                  <a:pt x="0" y="11899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911017" y="4127250"/>
            <a:ext cx="6587321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spc="-305" b="true">
                <a:solidFill>
                  <a:srgbClr val="293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Unit-1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911017" y="744630"/>
            <a:ext cx="12176870" cy="2170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25"/>
              </a:lnSpc>
            </a:pPr>
            <a:r>
              <a:rPr lang="en-US" sz="4161" spc="-66">
                <a:solidFill>
                  <a:srgbClr val="293960"/>
                </a:solidFill>
                <a:latin typeface="Montserrat"/>
                <a:ea typeface="Montserrat"/>
                <a:cs typeface="Montserrat"/>
                <a:sym typeface="Montserrat"/>
              </a:rPr>
              <a:t>This lesson covers the speech delivered by  Malala at the United Nations Youth Assembly on 12 July  2013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798939" y="3579999"/>
            <a:ext cx="2547142" cy="326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6"/>
              </a:lnSpc>
            </a:pPr>
            <a:r>
              <a:rPr lang="en-US" sz="2800" spc="-252">
                <a:solidFill>
                  <a:srgbClr val="293960"/>
                </a:solidFill>
                <a:latin typeface="Montserrat"/>
                <a:ea typeface="Montserrat"/>
                <a:cs typeface="Montserrat"/>
                <a:sym typeface="Montserrat"/>
              </a:rPr>
              <a:t>/page 01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44000" y="7469171"/>
            <a:ext cx="3543744" cy="326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6"/>
              </a:lnSpc>
            </a:pPr>
            <a:r>
              <a:rPr lang="en-US" sz="2800" spc="-252">
                <a:solidFill>
                  <a:srgbClr val="293960"/>
                </a:solidFill>
                <a:latin typeface="Montserrat"/>
                <a:ea typeface="Montserrat"/>
                <a:cs typeface="Montserrat"/>
                <a:sym typeface="Montserrat"/>
              </a:rPr>
              <a:t>#groupproject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2687744" y="7609047"/>
            <a:ext cx="417758" cy="589429"/>
          </a:xfrm>
          <a:custGeom>
            <a:avLst/>
            <a:gdLst/>
            <a:ahLst/>
            <a:cxnLst/>
            <a:rect r="r" b="b" t="t" l="l"/>
            <a:pathLst>
              <a:path h="589429" w="417758">
                <a:moveTo>
                  <a:pt x="0" y="0"/>
                </a:moveTo>
                <a:lnTo>
                  <a:pt x="417757" y="0"/>
                </a:lnTo>
                <a:lnTo>
                  <a:pt x="417757" y="589429"/>
                </a:lnTo>
                <a:lnTo>
                  <a:pt x="0" y="5894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2503973">
            <a:off x="13887016" y="3615123"/>
            <a:ext cx="3947341" cy="3407115"/>
            <a:chOff x="0" y="0"/>
            <a:chExt cx="5263121" cy="45428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235101" y="246148"/>
              <a:ext cx="5028020" cy="4296672"/>
            </a:xfrm>
            <a:custGeom>
              <a:avLst/>
              <a:gdLst/>
              <a:ahLst/>
              <a:cxnLst/>
              <a:rect r="r" b="b" t="t" l="l"/>
              <a:pathLst>
                <a:path h="4296672" w="5028020">
                  <a:moveTo>
                    <a:pt x="0" y="0"/>
                  </a:moveTo>
                  <a:lnTo>
                    <a:pt x="5028020" y="0"/>
                  </a:lnTo>
                  <a:lnTo>
                    <a:pt x="5028020" y="4296672"/>
                  </a:lnTo>
                  <a:lnTo>
                    <a:pt x="0" y="4296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028020" cy="4296672"/>
            </a:xfrm>
            <a:custGeom>
              <a:avLst/>
              <a:gdLst/>
              <a:ahLst/>
              <a:cxnLst/>
              <a:rect r="r" b="b" t="t" l="l"/>
              <a:pathLst>
                <a:path h="4296672" w="5028020">
                  <a:moveTo>
                    <a:pt x="0" y="0"/>
                  </a:moveTo>
                  <a:lnTo>
                    <a:pt x="5028020" y="0"/>
                  </a:lnTo>
                  <a:lnTo>
                    <a:pt x="5028020" y="4296672"/>
                  </a:lnTo>
                  <a:lnTo>
                    <a:pt x="0" y="4296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-1917169" y="8549577"/>
            <a:ext cx="4341197" cy="4250755"/>
          </a:xfrm>
          <a:custGeom>
            <a:avLst/>
            <a:gdLst/>
            <a:ahLst/>
            <a:cxnLst/>
            <a:rect r="r" b="b" t="t" l="l"/>
            <a:pathLst>
              <a:path h="4250755" w="4341197">
                <a:moveTo>
                  <a:pt x="0" y="0"/>
                </a:moveTo>
                <a:lnTo>
                  <a:pt x="4341197" y="0"/>
                </a:lnTo>
                <a:lnTo>
                  <a:pt x="4341197" y="4250756"/>
                </a:lnTo>
                <a:lnTo>
                  <a:pt x="0" y="425075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3304603" y="5615938"/>
            <a:ext cx="11678794" cy="11678794"/>
          </a:xfrm>
          <a:custGeom>
            <a:avLst/>
            <a:gdLst/>
            <a:ahLst/>
            <a:cxnLst/>
            <a:rect r="r" b="b" t="t" l="l"/>
            <a:pathLst>
              <a:path h="11678794" w="11678794">
                <a:moveTo>
                  <a:pt x="0" y="0"/>
                </a:moveTo>
                <a:lnTo>
                  <a:pt x="11678794" y="0"/>
                </a:lnTo>
                <a:lnTo>
                  <a:pt x="11678794" y="11678794"/>
                </a:lnTo>
                <a:lnTo>
                  <a:pt x="0" y="1167879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50000"/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EE6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48991" y="0"/>
            <a:ext cx="7744175" cy="10484601"/>
            <a:chOff x="0" y="0"/>
            <a:chExt cx="1222387" cy="16549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22387" cy="1654952"/>
            </a:xfrm>
            <a:custGeom>
              <a:avLst/>
              <a:gdLst/>
              <a:ahLst/>
              <a:cxnLst/>
              <a:rect r="r" b="b" t="t" l="l"/>
              <a:pathLst>
                <a:path h="1654952" w="1222387">
                  <a:moveTo>
                    <a:pt x="0" y="0"/>
                  </a:moveTo>
                  <a:lnTo>
                    <a:pt x="1222387" y="0"/>
                  </a:lnTo>
                  <a:lnTo>
                    <a:pt x="1222387" y="1654952"/>
                  </a:lnTo>
                  <a:lnTo>
                    <a:pt x="0" y="1654952"/>
                  </a:lnTo>
                  <a:close/>
                </a:path>
              </a:pathLst>
            </a:custGeom>
            <a:blipFill>
              <a:blip r:embed="rId2"/>
              <a:stretch>
                <a:fillRect l="-17487" t="0" r="-17487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40275" y="92653"/>
            <a:ext cx="2547142" cy="796194"/>
            <a:chOff x="0" y="0"/>
            <a:chExt cx="670852" cy="20969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70852" cy="209697"/>
            </a:xfrm>
            <a:custGeom>
              <a:avLst/>
              <a:gdLst/>
              <a:ahLst/>
              <a:cxnLst/>
              <a:rect r="r" b="b" t="t" l="l"/>
              <a:pathLst>
                <a:path h="209697" w="670852">
                  <a:moveTo>
                    <a:pt x="104849" y="0"/>
                  </a:moveTo>
                  <a:lnTo>
                    <a:pt x="566004" y="0"/>
                  </a:lnTo>
                  <a:cubicBezTo>
                    <a:pt x="593811" y="0"/>
                    <a:pt x="620480" y="11047"/>
                    <a:pt x="640143" y="30709"/>
                  </a:cubicBezTo>
                  <a:cubicBezTo>
                    <a:pt x="659806" y="50372"/>
                    <a:pt x="670852" y="77041"/>
                    <a:pt x="670852" y="104849"/>
                  </a:cubicBezTo>
                  <a:lnTo>
                    <a:pt x="670852" y="104849"/>
                  </a:lnTo>
                  <a:cubicBezTo>
                    <a:pt x="670852" y="132656"/>
                    <a:pt x="659806" y="159325"/>
                    <a:pt x="640143" y="178988"/>
                  </a:cubicBezTo>
                  <a:cubicBezTo>
                    <a:pt x="620480" y="198651"/>
                    <a:pt x="593811" y="209697"/>
                    <a:pt x="566004" y="209697"/>
                  </a:cubicBezTo>
                  <a:lnTo>
                    <a:pt x="104849" y="209697"/>
                  </a:lnTo>
                  <a:cubicBezTo>
                    <a:pt x="77041" y="209697"/>
                    <a:pt x="50372" y="198651"/>
                    <a:pt x="30709" y="178988"/>
                  </a:cubicBezTo>
                  <a:cubicBezTo>
                    <a:pt x="11047" y="159325"/>
                    <a:pt x="0" y="132656"/>
                    <a:pt x="0" y="104849"/>
                  </a:cubicBezTo>
                  <a:lnTo>
                    <a:pt x="0" y="104849"/>
                  </a:lnTo>
                  <a:cubicBezTo>
                    <a:pt x="0" y="77041"/>
                    <a:pt x="11047" y="50372"/>
                    <a:pt x="30709" y="30709"/>
                  </a:cubicBezTo>
                  <a:cubicBezTo>
                    <a:pt x="50372" y="11047"/>
                    <a:pt x="77041" y="0"/>
                    <a:pt x="104849" y="0"/>
                  </a:cubicBezTo>
                  <a:close/>
                </a:path>
              </a:pathLst>
            </a:custGeom>
            <a:solidFill>
              <a:srgbClr val="FEFEFB"/>
            </a:solidFill>
            <a:ln w="28575" cap="rnd">
              <a:solidFill>
                <a:srgbClr val="293960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670852" cy="2477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2354234" y="429643"/>
            <a:ext cx="385816" cy="544362"/>
          </a:xfrm>
          <a:custGeom>
            <a:avLst/>
            <a:gdLst/>
            <a:ahLst/>
            <a:cxnLst/>
            <a:rect r="r" b="b" t="t" l="l"/>
            <a:pathLst>
              <a:path h="544362" w="385816">
                <a:moveTo>
                  <a:pt x="0" y="0"/>
                </a:moveTo>
                <a:lnTo>
                  <a:pt x="385816" y="0"/>
                </a:lnTo>
                <a:lnTo>
                  <a:pt x="385816" y="544362"/>
                </a:lnTo>
                <a:lnTo>
                  <a:pt x="0" y="5443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141923" y="-845243"/>
            <a:ext cx="5817293" cy="5817293"/>
          </a:xfrm>
          <a:custGeom>
            <a:avLst/>
            <a:gdLst/>
            <a:ahLst/>
            <a:cxnLst/>
            <a:rect r="r" b="b" t="t" l="l"/>
            <a:pathLst>
              <a:path h="5817293" w="5817293">
                <a:moveTo>
                  <a:pt x="0" y="0"/>
                </a:moveTo>
                <a:lnTo>
                  <a:pt x="5817293" y="0"/>
                </a:lnTo>
                <a:lnTo>
                  <a:pt x="5817293" y="5817293"/>
                </a:lnTo>
                <a:lnTo>
                  <a:pt x="0" y="58172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49639" y="7804135"/>
            <a:ext cx="4141809" cy="2264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sz="6626" spc="-596" b="true">
                <a:solidFill>
                  <a:srgbClr val="EAF3B2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Malala in her childhood.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0" y="374925"/>
            <a:ext cx="2547142" cy="326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6"/>
              </a:lnSpc>
            </a:pPr>
            <a:r>
              <a:rPr lang="en-US" sz="2800" spc="-252">
                <a:solidFill>
                  <a:srgbClr val="293960"/>
                </a:solidFill>
                <a:latin typeface="Montserrat"/>
                <a:ea typeface="Montserrat"/>
                <a:cs typeface="Montserrat"/>
                <a:sym typeface="Montserrat"/>
              </a:rPr>
              <a:t>/page 02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667603" y="928900"/>
            <a:ext cx="10620397" cy="1678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81"/>
              </a:lnSpc>
            </a:pPr>
            <a:r>
              <a:rPr lang="en-US" sz="13886" spc="-1249" b="true">
                <a:solidFill>
                  <a:srgbClr val="293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Background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495184" y="3401252"/>
            <a:ext cx="10775199" cy="1570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45"/>
              </a:lnSpc>
            </a:pPr>
            <a:r>
              <a:rPr lang="en-US" sz="4532" spc="-95">
                <a:solidFill>
                  <a:srgbClr val="1F244A"/>
                </a:solidFill>
                <a:latin typeface="Montserrat"/>
                <a:ea typeface="Montserrat"/>
                <a:cs typeface="Montserrat"/>
                <a:sym typeface="Montserrat"/>
              </a:rPr>
              <a:t> She was born in Mingora, Swat Valley, Pakistan on July 12, 1997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924830" y="5861773"/>
            <a:ext cx="10105944" cy="2969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51"/>
              </a:lnSpc>
            </a:pPr>
            <a:r>
              <a:rPr lang="en-US" sz="4251" spc="-89">
                <a:solidFill>
                  <a:srgbClr val="1F244A"/>
                </a:solidFill>
                <a:latin typeface="Montserrat"/>
                <a:ea typeface="Montserrat"/>
                <a:cs typeface="Montserrat"/>
                <a:sym typeface="Montserrat"/>
              </a:rPr>
              <a:t>In the late 2000s, the Taliban took control of Swat Valley and imposed strict rules that banned girls from attending school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72745" y="760047"/>
            <a:ext cx="13213747" cy="1809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050"/>
              </a:lnSpc>
            </a:pPr>
            <a:r>
              <a:rPr lang="en-US" sz="15000" spc="-1350" b="true">
                <a:solidFill>
                  <a:srgbClr val="29396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Early Activism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53430" y="232506"/>
            <a:ext cx="2547142" cy="796194"/>
            <a:chOff x="0" y="0"/>
            <a:chExt cx="670852" cy="20969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70852" cy="209697"/>
            </a:xfrm>
            <a:custGeom>
              <a:avLst/>
              <a:gdLst/>
              <a:ahLst/>
              <a:cxnLst/>
              <a:rect r="r" b="b" t="t" l="l"/>
              <a:pathLst>
                <a:path h="209697" w="670852">
                  <a:moveTo>
                    <a:pt x="104849" y="0"/>
                  </a:moveTo>
                  <a:lnTo>
                    <a:pt x="566004" y="0"/>
                  </a:lnTo>
                  <a:cubicBezTo>
                    <a:pt x="593811" y="0"/>
                    <a:pt x="620480" y="11047"/>
                    <a:pt x="640143" y="30709"/>
                  </a:cubicBezTo>
                  <a:cubicBezTo>
                    <a:pt x="659806" y="50372"/>
                    <a:pt x="670852" y="77041"/>
                    <a:pt x="670852" y="104849"/>
                  </a:cubicBezTo>
                  <a:lnTo>
                    <a:pt x="670852" y="104849"/>
                  </a:lnTo>
                  <a:cubicBezTo>
                    <a:pt x="670852" y="132656"/>
                    <a:pt x="659806" y="159325"/>
                    <a:pt x="640143" y="178988"/>
                  </a:cubicBezTo>
                  <a:cubicBezTo>
                    <a:pt x="620480" y="198651"/>
                    <a:pt x="593811" y="209697"/>
                    <a:pt x="566004" y="209697"/>
                  </a:cubicBezTo>
                  <a:lnTo>
                    <a:pt x="104849" y="209697"/>
                  </a:lnTo>
                  <a:cubicBezTo>
                    <a:pt x="77041" y="209697"/>
                    <a:pt x="50372" y="198651"/>
                    <a:pt x="30709" y="178988"/>
                  </a:cubicBezTo>
                  <a:cubicBezTo>
                    <a:pt x="11047" y="159325"/>
                    <a:pt x="0" y="132656"/>
                    <a:pt x="0" y="104849"/>
                  </a:cubicBezTo>
                  <a:lnTo>
                    <a:pt x="0" y="104849"/>
                  </a:lnTo>
                  <a:cubicBezTo>
                    <a:pt x="0" y="77041"/>
                    <a:pt x="11047" y="50372"/>
                    <a:pt x="30709" y="30709"/>
                  </a:cubicBezTo>
                  <a:cubicBezTo>
                    <a:pt x="50372" y="11047"/>
                    <a:pt x="77041" y="0"/>
                    <a:pt x="104849" y="0"/>
                  </a:cubicBezTo>
                  <a:close/>
                </a:path>
              </a:pathLst>
            </a:custGeom>
            <a:solidFill>
              <a:srgbClr val="9FBAF1"/>
            </a:solidFill>
            <a:ln w="28575" cap="rnd">
              <a:solidFill>
                <a:srgbClr val="293960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70852" cy="2477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53430" y="514779"/>
            <a:ext cx="2547142" cy="326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6"/>
              </a:lnSpc>
            </a:pPr>
            <a:r>
              <a:rPr lang="en-US" sz="2800" spc="-252">
                <a:solidFill>
                  <a:srgbClr val="293960"/>
                </a:solidFill>
                <a:latin typeface="Montserrat"/>
                <a:ea typeface="Montserrat"/>
                <a:cs typeface="Montserrat"/>
                <a:sym typeface="Montserrat"/>
              </a:rPr>
              <a:t>/page 03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1917169" y="8549577"/>
            <a:ext cx="4341197" cy="4250755"/>
          </a:xfrm>
          <a:custGeom>
            <a:avLst/>
            <a:gdLst/>
            <a:ahLst/>
            <a:cxnLst/>
            <a:rect r="r" b="b" t="t" l="l"/>
            <a:pathLst>
              <a:path h="4250755" w="4341197">
                <a:moveTo>
                  <a:pt x="0" y="0"/>
                </a:moveTo>
                <a:lnTo>
                  <a:pt x="4341197" y="0"/>
                </a:lnTo>
                <a:lnTo>
                  <a:pt x="4341197" y="4250756"/>
                </a:lnTo>
                <a:lnTo>
                  <a:pt x="0" y="42507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253430" y="3477105"/>
            <a:ext cx="8065868" cy="4626485"/>
            <a:chOff x="0" y="0"/>
            <a:chExt cx="7981950" cy="4578350"/>
          </a:xfrm>
        </p:grpSpPr>
        <p:sp>
          <p:nvSpPr>
            <p:cNvPr name="Freeform 9" id="9">
              <a:hlinkClick r:id="rId4" tooltip="https://i.guim.co.uk/img/static/sys-images/Guardian/Pix/pictures/2009/10/2/1254506981239/Dr-Muhammad-Naeem-Khan-001.jpg?width=465&amp;dpr=1&amp;s=none&amp;crop=none"/>
            </p:cNvPr>
            <p:cNvSpPr/>
            <p:nvPr/>
          </p:nvSpPr>
          <p:spPr>
            <a:xfrm flipH="false" flipV="false" rot="0">
              <a:off x="765810" y="21590"/>
              <a:ext cx="6451600" cy="4326890"/>
            </a:xfrm>
            <a:custGeom>
              <a:avLst/>
              <a:gdLst/>
              <a:ahLst/>
              <a:cxnLst/>
              <a:rect r="r" b="b" t="t" l="l"/>
              <a:pathLst>
                <a:path h="4326890" w="645160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name="Freeform 10" id="10">
              <a:hlinkClick r:id="rId5" tooltip="https://i.guim.co.uk/img/static/sys-images/Guardian/Pix/pictures/2009/10/2/1254506981239/Dr-Muhammad-Naeem-Khan-001.jpg?width=465&amp;dpr=1&amp;s=none&amp;crop=none"/>
            </p:cNvPr>
            <p:cNvSpPr/>
            <p:nvPr/>
          </p:nvSpPr>
          <p:spPr>
            <a:xfrm flipH="false" flipV="false" rot="0">
              <a:off x="0" y="0"/>
              <a:ext cx="7981950" cy="4542790"/>
            </a:xfrm>
            <a:custGeom>
              <a:avLst/>
              <a:gdLst/>
              <a:ahLst/>
              <a:cxnLst/>
              <a:rect r="r" b="b" t="t" l="l"/>
              <a:pathLst>
                <a:path h="4542790" w="798195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969696"/>
            </a:solidFill>
          </p:spPr>
        </p:sp>
        <p:sp>
          <p:nvSpPr>
            <p:cNvPr name="Freeform 11" id="11">
              <a:hlinkClick r:id="rId6" tooltip="https://i.guim.co.uk/img/static/sys-images/Guardian/Pix/pictures/2009/10/2/1254506981239/Dr-Muhammad-Naeem-Khan-001.jpg?width=465&amp;dpr=1&amp;s=none&amp;crop=none"/>
            </p:cNvPr>
            <p:cNvSpPr/>
            <p:nvPr/>
          </p:nvSpPr>
          <p:spPr>
            <a:xfrm flipH="false" flipV="false" rot="0">
              <a:off x="3460750" y="4349750"/>
              <a:ext cx="1059180" cy="96520"/>
            </a:xfrm>
            <a:custGeom>
              <a:avLst/>
              <a:gdLst/>
              <a:ahLst/>
              <a:cxnLst/>
              <a:rect r="r" b="b" t="t" l="l"/>
              <a:pathLst>
                <a:path h="96520" w="105918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727171"/>
            </a:solidFill>
          </p:spPr>
        </p:sp>
        <p:sp>
          <p:nvSpPr>
            <p:cNvPr name="Freeform 12" id="12">
              <a:hlinkClick r:id="rId7" tooltip="https://i.guim.co.uk/img/static/sys-images/Guardian/Pix/pictures/2009/10/2/1254506981239/Dr-Muhammad-Naeem-Khan-001.jpg?width=465&amp;dpr=1&amp;s=none&amp;crop=none"/>
            </p:cNvPr>
            <p:cNvSpPr/>
            <p:nvPr/>
          </p:nvSpPr>
          <p:spPr>
            <a:xfrm flipH="false" flipV="false" rot="0">
              <a:off x="163830" y="4542790"/>
              <a:ext cx="7654290" cy="35560"/>
            </a:xfrm>
            <a:custGeom>
              <a:avLst/>
              <a:gdLst/>
              <a:ahLst/>
              <a:cxnLst/>
              <a:rect r="r" b="b" t="t" l="l"/>
              <a:pathLst>
                <a:path h="35560" w="765429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727171"/>
            </a:solidFill>
          </p:spPr>
        </p:sp>
        <p:sp>
          <p:nvSpPr>
            <p:cNvPr name="Freeform 13" id="13">
              <a:hlinkClick r:id="rId8" tooltip="https://i.guim.co.uk/img/static/sys-images/Guardian/Pix/pictures/2009/10/2/1254506981239/Dr-Muhammad-Naeem-Khan-001.jpg?width=465&amp;dpr=1&amp;s=none&amp;crop=none"/>
            </p:cNvPr>
            <p:cNvSpPr/>
            <p:nvPr/>
          </p:nvSpPr>
          <p:spPr>
            <a:xfrm flipH="false" flipV="false" rot="0">
              <a:off x="962660" y="276860"/>
              <a:ext cx="6055360" cy="3789680"/>
            </a:xfrm>
            <a:custGeom>
              <a:avLst/>
              <a:gdLst/>
              <a:ahLst/>
              <a:cxnLst/>
              <a:rect r="r" b="b" t="t" l="l"/>
              <a:pathLst>
                <a:path h="3789680" w="6055360">
                  <a:moveTo>
                    <a:pt x="0" y="0"/>
                  </a:moveTo>
                  <a:lnTo>
                    <a:pt x="6055360" y="0"/>
                  </a:lnTo>
                  <a:lnTo>
                    <a:pt x="6055360" y="3789680"/>
                  </a:lnTo>
                  <a:lnTo>
                    <a:pt x="0" y="3789680"/>
                  </a:lnTo>
                  <a:close/>
                </a:path>
              </a:pathLst>
            </a:custGeom>
            <a:blipFill>
              <a:blip r:embed="rId9"/>
              <a:stretch>
                <a:fillRect l="-2044" t="0" r="-2044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336914" y="2853408"/>
            <a:ext cx="6861192" cy="1379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54"/>
              </a:lnSpc>
            </a:pPr>
            <a:r>
              <a:rPr lang="en-US" sz="3967" spc="-230">
                <a:solidFill>
                  <a:srgbClr val="29396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967" spc="-230" b="true">
                <a:solidFill>
                  <a:srgbClr val="293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Taliban said girls could no longer go to school.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44000" y="4527728"/>
            <a:ext cx="7946434" cy="3612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92"/>
              </a:lnSpc>
            </a:pPr>
            <a:r>
              <a:rPr lang="en-US" sz="4137" spc="-107">
                <a:solidFill>
                  <a:srgbClr val="293960"/>
                </a:solidFill>
                <a:latin typeface="Montserrat"/>
                <a:ea typeface="Montserrat"/>
                <a:cs typeface="Montserrat"/>
                <a:sym typeface="Montserrat"/>
              </a:rPr>
              <a:t>These injustices sparked Malala’s activism: she began speaking out publicly for girls’ right to education despite great personal risk.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8065868" y="3022116"/>
            <a:ext cx="919171" cy="454989"/>
          </a:xfrm>
          <a:custGeom>
            <a:avLst/>
            <a:gdLst/>
            <a:ahLst/>
            <a:cxnLst/>
            <a:rect r="r" b="b" t="t" l="l"/>
            <a:pathLst>
              <a:path h="454989" w="919171">
                <a:moveTo>
                  <a:pt x="0" y="0"/>
                </a:moveTo>
                <a:lnTo>
                  <a:pt x="919171" y="0"/>
                </a:lnTo>
                <a:lnTo>
                  <a:pt x="919171" y="454989"/>
                </a:lnTo>
                <a:lnTo>
                  <a:pt x="0" y="45498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2424028" y="677531"/>
            <a:ext cx="248891" cy="351169"/>
          </a:xfrm>
          <a:custGeom>
            <a:avLst/>
            <a:gdLst/>
            <a:ahLst/>
            <a:cxnLst/>
            <a:rect r="r" b="b" t="t" l="l"/>
            <a:pathLst>
              <a:path h="351169" w="248891">
                <a:moveTo>
                  <a:pt x="0" y="0"/>
                </a:moveTo>
                <a:lnTo>
                  <a:pt x="248891" y="0"/>
                </a:lnTo>
                <a:lnTo>
                  <a:pt x="248891" y="351169"/>
                </a:lnTo>
                <a:lnTo>
                  <a:pt x="0" y="35116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39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883591" y="-2434776"/>
            <a:ext cx="4490198" cy="4495817"/>
          </a:xfrm>
          <a:custGeom>
            <a:avLst/>
            <a:gdLst/>
            <a:ahLst/>
            <a:cxnLst/>
            <a:rect r="r" b="b" t="t" l="l"/>
            <a:pathLst>
              <a:path h="4495817" w="4490198">
                <a:moveTo>
                  <a:pt x="0" y="0"/>
                </a:moveTo>
                <a:lnTo>
                  <a:pt x="4490198" y="0"/>
                </a:lnTo>
                <a:lnTo>
                  <a:pt x="4490198" y="4495817"/>
                </a:lnTo>
                <a:lnTo>
                  <a:pt x="0" y="44958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02408" y="432531"/>
            <a:ext cx="10362094" cy="5864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59"/>
              </a:lnSpc>
            </a:pPr>
            <a:r>
              <a:rPr lang="en-US" sz="11345" spc="-533" b="true">
                <a:solidFill>
                  <a:srgbClr val="FEFEFB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Turning Point in Her Life</a:t>
            </a:r>
          </a:p>
          <a:p>
            <a:pPr algn="l">
              <a:lnSpc>
                <a:spcPts val="11459"/>
              </a:lnSpc>
            </a:pPr>
          </a:p>
          <a:p>
            <a:pPr algn="l">
              <a:lnSpc>
                <a:spcPts val="11459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012359" y="7555203"/>
            <a:ext cx="8270835" cy="8270835"/>
          </a:xfrm>
          <a:custGeom>
            <a:avLst/>
            <a:gdLst/>
            <a:ahLst/>
            <a:cxnLst/>
            <a:rect r="r" b="b" t="t" l="l"/>
            <a:pathLst>
              <a:path h="8270835" w="8270835">
                <a:moveTo>
                  <a:pt x="0" y="0"/>
                </a:moveTo>
                <a:lnTo>
                  <a:pt x="8270836" y="0"/>
                </a:lnTo>
                <a:lnTo>
                  <a:pt x="8270836" y="8270836"/>
                </a:lnTo>
                <a:lnTo>
                  <a:pt x="0" y="82708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59991" y="232506"/>
            <a:ext cx="2547142" cy="796194"/>
            <a:chOff x="0" y="0"/>
            <a:chExt cx="670852" cy="20969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70852" cy="209697"/>
            </a:xfrm>
            <a:custGeom>
              <a:avLst/>
              <a:gdLst/>
              <a:ahLst/>
              <a:cxnLst/>
              <a:rect r="r" b="b" t="t" l="l"/>
              <a:pathLst>
                <a:path h="209697" w="670852">
                  <a:moveTo>
                    <a:pt x="104849" y="0"/>
                  </a:moveTo>
                  <a:lnTo>
                    <a:pt x="566004" y="0"/>
                  </a:lnTo>
                  <a:cubicBezTo>
                    <a:pt x="593811" y="0"/>
                    <a:pt x="620480" y="11047"/>
                    <a:pt x="640143" y="30709"/>
                  </a:cubicBezTo>
                  <a:cubicBezTo>
                    <a:pt x="659806" y="50372"/>
                    <a:pt x="670852" y="77041"/>
                    <a:pt x="670852" y="104849"/>
                  </a:cubicBezTo>
                  <a:lnTo>
                    <a:pt x="670852" y="104849"/>
                  </a:lnTo>
                  <a:cubicBezTo>
                    <a:pt x="670852" y="132656"/>
                    <a:pt x="659806" y="159325"/>
                    <a:pt x="640143" y="178988"/>
                  </a:cubicBezTo>
                  <a:cubicBezTo>
                    <a:pt x="620480" y="198651"/>
                    <a:pt x="593811" y="209697"/>
                    <a:pt x="566004" y="209697"/>
                  </a:cubicBezTo>
                  <a:lnTo>
                    <a:pt x="104849" y="209697"/>
                  </a:lnTo>
                  <a:cubicBezTo>
                    <a:pt x="77041" y="209697"/>
                    <a:pt x="50372" y="198651"/>
                    <a:pt x="30709" y="178988"/>
                  </a:cubicBezTo>
                  <a:cubicBezTo>
                    <a:pt x="11047" y="159325"/>
                    <a:pt x="0" y="132656"/>
                    <a:pt x="0" y="104849"/>
                  </a:cubicBezTo>
                  <a:lnTo>
                    <a:pt x="0" y="104849"/>
                  </a:lnTo>
                  <a:cubicBezTo>
                    <a:pt x="0" y="77041"/>
                    <a:pt x="11047" y="50372"/>
                    <a:pt x="30709" y="30709"/>
                  </a:cubicBezTo>
                  <a:cubicBezTo>
                    <a:pt x="50372" y="11047"/>
                    <a:pt x="77041" y="0"/>
                    <a:pt x="104849" y="0"/>
                  </a:cubicBezTo>
                  <a:close/>
                </a:path>
              </a:pathLst>
            </a:custGeom>
            <a:solidFill>
              <a:srgbClr val="EAF3B2"/>
            </a:solidFill>
            <a:ln w="28575" cap="rnd">
              <a:solidFill>
                <a:srgbClr val="29396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70852" cy="2477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3449864"/>
            <a:ext cx="1009724" cy="499813"/>
          </a:xfrm>
          <a:custGeom>
            <a:avLst/>
            <a:gdLst/>
            <a:ahLst/>
            <a:cxnLst/>
            <a:rect r="r" b="b" t="t" l="l"/>
            <a:pathLst>
              <a:path h="499813" w="1009724">
                <a:moveTo>
                  <a:pt x="0" y="0"/>
                </a:moveTo>
                <a:lnTo>
                  <a:pt x="1009724" y="0"/>
                </a:lnTo>
                <a:lnTo>
                  <a:pt x="1009724" y="499813"/>
                </a:lnTo>
                <a:lnTo>
                  <a:pt x="0" y="49981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08879" y="514779"/>
            <a:ext cx="2547142" cy="326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6"/>
              </a:lnSpc>
            </a:pPr>
            <a:r>
              <a:rPr lang="en-US" sz="2800" spc="-252">
                <a:solidFill>
                  <a:srgbClr val="293960"/>
                </a:solidFill>
                <a:latin typeface="Montserrat"/>
                <a:ea typeface="Montserrat"/>
                <a:cs typeface="Montserrat"/>
                <a:sym typeface="Montserrat"/>
              </a:rPr>
              <a:t>/page 04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547142" y="3392714"/>
            <a:ext cx="8568120" cy="3155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83"/>
              </a:lnSpc>
            </a:pPr>
            <a:r>
              <a:rPr lang="en-US" sz="3631" spc="-39">
                <a:solidFill>
                  <a:srgbClr val="FEFEFB"/>
                </a:solidFill>
                <a:latin typeface="Montserrat"/>
                <a:ea typeface="Montserrat"/>
                <a:cs typeface="Montserrat"/>
                <a:sym typeface="Montserrat"/>
              </a:rPr>
              <a:t>The Taliban’s opposition to girls’ education grew violent. On October 9, 2012, while riding home on her school bus, Malala was shot in the head by a masked Taliban gunman.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2338263" y="733986"/>
            <a:ext cx="417758" cy="589429"/>
          </a:xfrm>
          <a:custGeom>
            <a:avLst/>
            <a:gdLst/>
            <a:ahLst/>
            <a:cxnLst/>
            <a:rect r="r" b="b" t="t" l="l"/>
            <a:pathLst>
              <a:path h="589429" w="417758">
                <a:moveTo>
                  <a:pt x="0" y="0"/>
                </a:moveTo>
                <a:lnTo>
                  <a:pt x="417758" y="0"/>
                </a:lnTo>
                <a:lnTo>
                  <a:pt x="417758" y="589428"/>
                </a:lnTo>
                <a:lnTo>
                  <a:pt x="0" y="5894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10222132" y="2494880"/>
            <a:ext cx="8065868" cy="4626485"/>
            <a:chOff x="0" y="0"/>
            <a:chExt cx="7981950" cy="4578350"/>
          </a:xfrm>
        </p:grpSpPr>
        <p:sp>
          <p:nvSpPr>
            <p:cNvPr name="Freeform 13" id="13">
              <a:hlinkClick r:id="rId10" tooltip="https://i.guim.co.uk/img/static/sys-images/Guardian/Pix/pictures/2009/10/2/1254506981239/Dr-Muhammad-Naeem-Khan-001.jpg?width=465&amp;dpr=1&amp;s=none&amp;crop=none"/>
            </p:cNvPr>
            <p:cNvSpPr/>
            <p:nvPr/>
          </p:nvSpPr>
          <p:spPr>
            <a:xfrm flipH="false" flipV="false" rot="0">
              <a:off x="765810" y="21590"/>
              <a:ext cx="6451600" cy="4326890"/>
            </a:xfrm>
            <a:custGeom>
              <a:avLst/>
              <a:gdLst/>
              <a:ahLst/>
              <a:cxnLst/>
              <a:rect r="r" b="b" t="t" l="l"/>
              <a:pathLst>
                <a:path h="4326890" w="645160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name="Freeform 14" id="14">
              <a:hlinkClick r:id="rId11" tooltip="https://i.guim.co.uk/img/static/sys-images/Guardian/Pix/pictures/2009/10/2/1254506981239/Dr-Muhammad-Naeem-Khan-001.jpg?width=465&amp;dpr=1&amp;s=none&amp;crop=none"/>
            </p:cNvPr>
            <p:cNvSpPr/>
            <p:nvPr/>
          </p:nvSpPr>
          <p:spPr>
            <a:xfrm flipH="false" flipV="false" rot="0">
              <a:off x="0" y="0"/>
              <a:ext cx="7981950" cy="4542790"/>
            </a:xfrm>
            <a:custGeom>
              <a:avLst/>
              <a:gdLst/>
              <a:ahLst/>
              <a:cxnLst/>
              <a:rect r="r" b="b" t="t" l="l"/>
              <a:pathLst>
                <a:path h="4542790" w="798195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969696"/>
            </a:solidFill>
          </p:spPr>
        </p:sp>
        <p:sp>
          <p:nvSpPr>
            <p:cNvPr name="Freeform 15" id="15">
              <a:hlinkClick r:id="rId12" tooltip="https://i.guim.co.uk/img/static/sys-images/Guardian/Pix/pictures/2009/10/2/1254506981239/Dr-Muhammad-Naeem-Khan-001.jpg?width=465&amp;dpr=1&amp;s=none&amp;crop=none"/>
            </p:cNvPr>
            <p:cNvSpPr/>
            <p:nvPr/>
          </p:nvSpPr>
          <p:spPr>
            <a:xfrm flipH="false" flipV="false" rot="0">
              <a:off x="3460750" y="4349750"/>
              <a:ext cx="1059180" cy="96520"/>
            </a:xfrm>
            <a:custGeom>
              <a:avLst/>
              <a:gdLst/>
              <a:ahLst/>
              <a:cxnLst/>
              <a:rect r="r" b="b" t="t" l="l"/>
              <a:pathLst>
                <a:path h="96520" w="105918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727171"/>
            </a:solidFill>
          </p:spPr>
        </p:sp>
        <p:sp>
          <p:nvSpPr>
            <p:cNvPr name="Freeform 16" id="16">
              <a:hlinkClick r:id="rId13" tooltip="https://i.guim.co.uk/img/static/sys-images/Guardian/Pix/pictures/2009/10/2/1254506981239/Dr-Muhammad-Naeem-Khan-001.jpg?width=465&amp;dpr=1&amp;s=none&amp;crop=none"/>
            </p:cNvPr>
            <p:cNvSpPr/>
            <p:nvPr/>
          </p:nvSpPr>
          <p:spPr>
            <a:xfrm flipH="false" flipV="false" rot="0">
              <a:off x="163830" y="4542790"/>
              <a:ext cx="7654290" cy="35560"/>
            </a:xfrm>
            <a:custGeom>
              <a:avLst/>
              <a:gdLst/>
              <a:ahLst/>
              <a:cxnLst/>
              <a:rect r="r" b="b" t="t" l="l"/>
              <a:pathLst>
                <a:path h="35560" w="765429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727171"/>
            </a:solidFill>
          </p:spPr>
        </p:sp>
        <p:sp>
          <p:nvSpPr>
            <p:cNvPr name="Freeform 17" id="17">
              <a:hlinkClick r:id="rId14" tooltip="https://i.guim.co.uk/img/static/sys-images/Guardian/Pix/pictures/2009/10/2/1254506981239/Dr-Muhammad-Naeem-Khan-001.jpg?width=465&amp;dpr=1&amp;s=none&amp;crop=none"/>
            </p:cNvPr>
            <p:cNvSpPr/>
            <p:nvPr/>
          </p:nvSpPr>
          <p:spPr>
            <a:xfrm flipH="false" flipV="false" rot="0">
              <a:off x="962660" y="276860"/>
              <a:ext cx="6055360" cy="3789680"/>
            </a:xfrm>
            <a:custGeom>
              <a:avLst/>
              <a:gdLst/>
              <a:ahLst/>
              <a:cxnLst/>
              <a:rect r="r" b="b" t="t" l="l"/>
              <a:pathLst>
                <a:path h="3789680" w="6055360">
                  <a:moveTo>
                    <a:pt x="0" y="0"/>
                  </a:moveTo>
                  <a:lnTo>
                    <a:pt x="6055360" y="0"/>
                  </a:lnTo>
                  <a:lnTo>
                    <a:pt x="6055360" y="3789680"/>
                  </a:lnTo>
                  <a:lnTo>
                    <a:pt x="0" y="3789680"/>
                  </a:lnTo>
                  <a:close/>
                </a:path>
              </a:pathLst>
            </a:custGeom>
            <a:blipFill>
              <a:blip r:embed="rId15"/>
              <a:stretch>
                <a:fillRect l="0" t="-3455" r="0" b="-3455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2338263" y="7492839"/>
            <a:ext cx="15650588" cy="1233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4"/>
              </a:lnSpc>
            </a:pPr>
            <a:r>
              <a:rPr lang="en-US" sz="3567" spc="-17" b="true">
                <a:solidFill>
                  <a:srgbClr val="FEFEF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After months of surgeries , she recovered and moved with her family to the UK.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39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363638" y="-4826369"/>
            <a:ext cx="11065766" cy="11065766"/>
          </a:xfrm>
          <a:custGeom>
            <a:avLst/>
            <a:gdLst/>
            <a:ahLst/>
            <a:cxnLst/>
            <a:rect r="r" b="b" t="t" l="l"/>
            <a:pathLst>
              <a:path h="11065766" w="11065766">
                <a:moveTo>
                  <a:pt x="0" y="0"/>
                </a:moveTo>
                <a:lnTo>
                  <a:pt x="11065766" y="0"/>
                </a:lnTo>
                <a:lnTo>
                  <a:pt x="11065766" y="11065766"/>
                </a:lnTo>
                <a:lnTo>
                  <a:pt x="0" y="110657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288250" y="8090536"/>
            <a:ext cx="11065766" cy="11065766"/>
          </a:xfrm>
          <a:custGeom>
            <a:avLst/>
            <a:gdLst/>
            <a:ahLst/>
            <a:cxnLst/>
            <a:rect r="r" b="b" t="t" l="l"/>
            <a:pathLst>
              <a:path h="11065766" w="11065766">
                <a:moveTo>
                  <a:pt x="0" y="0"/>
                </a:moveTo>
                <a:lnTo>
                  <a:pt x="11065766" y="0"/>
                </a:lnTo>
                <a:lnTo>
                  <a:pt x="11065766" y="11065766"/>
                </a:lnTo>
                <a:lnTo>
                  <a:pt x="0" y="110657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flipV="true">
            <a:off x="9659764" y="2851635"/>
            <a:ext cx="0" cy="1070674"/>
          </a:xfrm>
          <a:prstGeom prst="line">
            <a:avLst/>
          </a:prstGeom>
          <a:ln cap="flat" w="28575">
            <a:solidFill>
              <a:srgbClr val="29396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V="true">
            <a:off x="9659764" y="5713187"/>
            <a:ext cx="0" cy="1070674"/>
          </a:xfrm>
          <a:prstGeom prst="line">
            <a:avLst/>
          </a:prstGeom>
          <a:ln cap="flat" w="28575">
            <a:solidFill>
              <a:srgbClr val="29396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3409571" y="8970489"/>
            <a:ext cx="1162872" cy="575622"/>
          </a:xfrm>
          <a:custGeom>
            <a:avLst/>
            <a:gdLst/>
            <a:ahLst/>
            <a:cxnLst/>
            <a:rect r="r" b="b" t="t" l="l"/>
            <a:pathLst>
              <a:path h="575622" w="1162872">
                <a:moveTo>
                  <a:pt x="0" y="0"/>
                </a:moveTo>
                <a:lnTo>
                  <a:pt x="1162873" y="0"/>
                </a:lnTo>
                <a:lnTo>
                  <a:pt x="1162873" y="575622"/>
                </a:lnTo>
                <a:lnTo>
                  <a:pt x="0" y="575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0" y="0"/>
            <a:ext cx="7288250" cy="10287000"/>
          </a:xfrm>
          <a:custGeom>
            <a:avLst/>
            <a:gdLst/>
            <a:ahLst/>
            <a:cxnLst/>
            <a:rect r="r" b="b" t="t" l="l"/>
            <a:pathLst>
              <a:path h="10287000" w="7288250">
                <a:moveTo>
                  <a:pt x="0" y="0"/>
                </a:moveTo>
                <a:lnTo>
                  <a:pt x="7288250" y="0"/>
                </a:lnTo>
                <a:lnTo>
                  <a:pt x="72882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163" t="0" r="-975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9245" y="409321"/>
            <a:ext cx="2134726" cy="1779827"/>
          </a:xfrm>
          <a:custGeom>
            <a:avLst/>
            <a:gdLst/>
            <a:ahLst/>
            <a:cxnLst/>
            <a:rect r="r" b="b" t="t" l="l"/>
            <a:pathLst>
              <a:path h="1779827" w="2134726">
                <a:moveTo>
                  <a:pt x="0" y="0"/>
                </a:moveTo>
                <a:lnTo>
                  <a:pt x="2134726" y="0"/>
                </a:lnTo>
                <a:lnTo>
                  <a:pt x="2134726" y="1779827"/>
                </a:lnTo>
                <a:lnTo>
                  <a:pt x="0" y="177982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34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79215" y="754139"/>
            <a:ext cx="1473567" cy="888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6"/>
              </a:lnSpc>
            </a:pPr>
            <a:r>
              <a:rPr lang="en-US" sz="2559" spc="-230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Malala in UN Youth Assembly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560190" y="2981642"/>
            <a:ext cx="8699110" cy="4626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6771" indent="-403385" lvl="1">
              <a:lnSpc>
                <a:spcPts val="5231"/>
              </a:lnSpc>
              <a:buFont typeface="Arial"/>
              <a:buChar char="•"/>
            </a:pPr>
            <a:r>
              <a:rPr lang="en-US" sz="3736" spc="-119">
                <a:solidFill>
                  <a:srgbClr val="FEFEFB"/>
                </a:solidFill>
                <a:latin typeface="Poppins"/>
                <a:ea typeface="Poppins"/>
                <a:cs typeface="Poppins"/>
                <a:sym typeface="Poppins"/>
              </a:rPr>
              <a:t>She felt honored to speak at the UN after recovering from the attack.</a:t>
            </a:r>
          </a:p>
          <a:p>
            <a:pPr algn="l" marL="806771" indent="-403385" lvl="1">
              <a:lnSpc>
                <a:spcPts val="5231"/>
              </a:lnSpc>
              <a:buFont typeface="Arial"/>
              <a:buChar char="•"/>
            </a:pPr>
            <a:r>
              <a:rPr lang="en-US" sz="3736" spc="-119">
                <a:solidFill>
                  <a:srgbClr val="FEFEFB"/>
                </a:solidFill>
                <a:latin typeface="Poppins"/>
                <a:ea typeface="Poppins"/>
                <a:cs typeface="Poppins"/>
                <a:sym typeface="Poppins"/>
              </a:rPr>
              <a:t>Thanked God, her supporters, and those who prayed for her recovery.</a:t>
            </a:r>
          </a:p>
          <a:p>
            <a:pPr algn="l" marL="806771" indent="-403385" lvl="1">
              <a:lnSpc>
                <a:spcPts val="5231"/>
              </a:lnSpc>
              <a:buFont typeface="Arial"/>
              <a:buChar char="•"/>
            </a:pPr>
            <a:r>
              <a:rPr lang="en-US" sz="3736" spc="-119">
                <a:solidFill>
                  <a:srgbClr val="FEFEFB"/>
                </a:solidFill>
                <a:latin typeface="Poppins"/>
                <a:ea typeface="Poppins"/>
                <a:cs typeface="Poppins"/>
                <a:sym typeface="Poppins"/>
              </a:rPr>
              <a:t>She says Malala Day is not her day, but a day for every girl and boy fighting for their rights.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69245" y="9258300"/>
            <a:ext cx="2547142" cy="796194"/>
            <a:chOff x="0" y="0"/>
            <a:chExt cx="670852" cy="20969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70852" cy="209697"/>
            </a:xfrm>
            <a:custGeom>
              <a:avLst/>
              <a:gdLst/>
              <a:ahLst/>
              <a:cxnLst/>
              <a:rect r="r" b="b" t="t" l="l"/>
              <a:pathLst>
                <a:path h="209697" w="670852">
                  <a:moveTo>
                    <a:pt x="104849" y="0"/>
                  </a:moveTo>
                  <a:lnTo>
                    <a:pt x="566004" y="0"/>
                  </a:lnTo>
                  <a:cubicBezTo>
                    <a:pt x="593811" y="0"/>
                    <a:pt x="620480" y="11047"/>
                    <a:pt x="640143" y="30709"/>
                  </a:cubicBezTo>
                  <a:cubicBezTo>
                    <a:pt x="659806" y="50372"/>
                    <a:pt x="670852" y="77041"/>
                    <a:pt x="670852" y="104849"/>
                  </a:cubicBezTo>
                  <a:lnTo>
                    <a:pt x="670852" y="104849"/>
                  </a:lnTo>
                  <a:cubicBezTo>
                    <a:pt x="670852" y="132656"/>
                    <a:pt x="659806" y="159325"/>
                    <a:pt x="640143" y="178988"/>
                  </a:cubicBezTo>
                  <a:cubicBezTo>
                    <a:pt x="620480" y="198651"/>
                    <a:pt x="593811" y="209697"/>
                    <a:pt x="566004" y="209697"/>
                  </a:cubicBezTo>
                  <a:lnTo>
                    <a:pt x="104849" y="209697"/>
                  </a:lnTo>
                  <a:cubicBezTo>
                    <a:pt x="77041" y="209697"/>
                    <a:pt x="50372" y="198651"/>
                    <a:pt x="30709" y="178988"/>
                  </a:cubicBezTo>
                  <a:cubicBezTo>
                    <a:pt x="11047" y="159325"/>
                    <a:pt x="0" y="132656"/>
                    <a:pt x="0" y="104849"/>
                  </a:cubicBezTo>
                  <a:lnTo>
                    <a:pt x="0" y="104849"/>
                  </a:lnTo>
                  <a:cubicBezTo>
                    <a:pt x="0" y="77041"/>
                    <a:pt x="11047" y="50372"/>
                    <a:pt x="30709" y="30709"/>
                  </a:cubicBezTo>
                  <a:cubicBezTo>
                    <a:pt x="50372" y="11047"/>
                    <a:pt x="77041" y="0"/>
                    <a:pt x="104849" y="0"/>
                  </a:cubicBezTo>
                  <a:close/>
                </a:path>
              </a:pathLst>
            </a:custGeom>
            <a:solidFill>
              <a:srgbClr val="EAF3B2"/>
            </a:solidFill>
            <a:ln w="28575" cap="rnd">
              <a:solidFill>
                <a:srgbClr val="29396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670852" cy="2477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69245" y="9527650"/>
            <a:ext cx="2547142" cy="631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6"/>
              </a:lnSpc>
            </a:pPr>
            <a:r>
              <a:rPr lang="en-US" sz="2800" spc="-252">
                <a:solidFill>
                  <a:srgbClr val="293960"/>
                </a:solidFill>
                <a:latin typeface="Montserrat"/>
                <a:ea typeface="Montserrat"/>
                <a:cs typeface="Montserrat"/>
                <a:sym typeface="Montserrat"/>
              </a:rPr>
              <a:t>/page 05</a:t>
            </a:r>
          </a:p>
          <a:p>
            <a:pPr algn="ctr">
              <a:lnSpc>
                <a:spcPts val="2436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8560190" y="1140435"/>
            <a:ext cx="8521885" cy="1048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63"/>
              </a:lnSpc>
            </a:pPr>
            <a:r>
              <a:rPr lang="en-US" b="true" sz="8693" spc="-782">
                <a:solidFill>
                  <a:srgbClr val="FEFEF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Malala at the UN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2303971" y="9546111"/>
            <a:ext cx="248891" cy="351169"/>
          </a:xfrm>
          <a:custGeom>
            <a:avLst/>
            <a:gdLst/>
            <a:ahLst/>
            <a:cxnLst/>
            <a:rect r="r" b="b" t="t" l="l"/>
            <a:pathLst>
              <a:path h="351169" w="248891">
                <a:moveTo>
                  <a:pt x="0" y="0"/>
                </a:moveTo>
                <a:lnTo>
                  <a:pt x="248890" y="0"/>
                </a:lnTo>
                <a:lnTo>
                  <a:pt x="248890" y="351168"/>
                </a:lnTo>
                <a:lnTo>
                  <a:pt x="0" y="35116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39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363638" y="-4826369"/>
            <a:ext cx="11065766" cy="11065766"/>
          </a:xfrm>
          <a:custGeom>
            <a:avLst/>
            <a:gdLst/>
            <a:ahLst/>
            <a:cxnLst/>
            <a:rect r="r" b="b" t="t" l="l"/>
            <a:pathLst>
              <a:path h="11065766" w="11065766">
                <a:moveTo>
                  <a:pt x="0" y="0"/>
                </a:moveTo>
                <a:lnTo>
                  <a:pt x="11065766" y="0"/>
                </a:lnTo>
                <a:lnTo>
                  <a:pt x="11065766" y="11065766"/>
                </a:lnTo>
                <a:lnTo>
                  <a:pt x="0" y="110657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848720" y="8323228"/>
            <a:ext cx="11065766" cy="11065766"/>
          </a:xfrm>
          <a:custGeom>
            <a:avLst/>
            <a:gdLst/>
            <a:ahLst/>
            <a:cxnLst/>
            <a:rect r="r" b="b" t="t" l="l"/>
            <a:pathLst>
              <a:path h="11065766" w="11065766">
                <a:moveTo>
                  <a:pt x="0" y="0"/>
                </a:moveTo>
                <a:lnTo>
                  <a:pt x="11065766" y="0"/>
                </a:lnTo>
                <a:lnTo>
                  <a:pt x="11065766" y="11065766"/>
                </a:lnTo>
                <a:lnTo>
                  <a:pt x="0" y="110657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flipV="true">
            <a:off x="9659764" y="2851635"/>
            <a:ext cx="0" cy="1070674"/>
          </a:xfrm>
          <a:prstGeom prst="line">
            <a:avLst/>
          </a:prstGeom>
          <a:ln cap="flat" w="28575">
            <a:solidFill>
              <a:srgbClr val="29396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V="true">
            <a:off x="9659764" y="5713187"/>
            <a:ext cx="0" cy="1070674"/>
          </a:xfrm>
          <a:prstGeom prst="line">
            <a:avLst/>
          </a:prstGeom>
          <a:ln cap="flat" w="28575">
            <a:solidFill>
              <a:srgbClr val="29396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3409571" y="8970489"/>
            <a:ext cx="1162872" cy="575622"/>
          </a:xfrm>
          <a:custGeom>
            <a:avLst/>
            <a:gdLst/>
            <a:ahLst/>
            <a:cxnLst/>
            <a:rect r="r" b="b" t="t" l="l"/>
            <a:pathLst>
              <a:path h="575622" w="1162872">
                <a:moveTo>
                  <a:pt x="0" y="0"/>
                </a:moveTo>
                <a:lnTo>
                  <a:pt x="1162873" y="0"/>
                </a:lnTo>
                <a:lnTo>
                  <a:pt x="1162873" y="575622"/>
                </a:lnTo>
                <a:lnTo>
                  <a:pt x="0" y="575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9245" y="409321"/>
            <a:ext cx="2134726" cy="1779827"/>
          </a:xfrm>
          <a:custGeom>
            <a:avLst/>
            <a:gdLst/>
            <a:ahLst/>
            <a:cxnLst/>
            <a:rect r="r" b="b" t="t" l="l"/>
            <a:pathLst>
              <a:path h="1779827" w="2134726">
                <a:moveTo>
                  <a:pt x="0" y="0"/>
                </a:moveTo>
                <a:lnTo>
                  <a:pt x="2134726" y="0"/>
                </a:lnTo>
                <a:lnTo>
                  <a:pt x="2134726" y="1779827"/>
                </a:lnTo>
                <a:lnTo>
                  <a:pt x="0" y="17798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3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69245" y="9258300"/>
            <a:ext cx="2547142" cy="796194"/>
            <a:chOff x="0" y="0"/>
            <a:chExt cx="670852" cy="2096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70852" cy="209697"/>
            </a:xfrm>
            <a:custGeom>
              <a:avLst/>
              <a:gdLst/>
              <a:ahLst/>
              <a:cxnLst/>
              <a:rect r="r" b="b" t="t" l="l"/>
              <a:pathLst>
                <a:path h="209697" w="670852">
                  <a:moveTo>
                    <a:pt x="104849" y="0"/>
                  </a:moveTo>
                  <a:lnTo>
                    <a:pt x="566004" y="0"/>
                  </a:lnTo>
                  <a:cubicBezTo>
                    <a:pt x="593811" y="0"/>
                    <a:pt x="620480" y="11047"/>
                    <a:pt x="640143" y="30709"/>
                  </a:cubicBezTo>
                  <a:cubicBezTo>
                    <a:pt x="659806" y="50372"/>
                    <a:pt x="670852" y="77041"/>
                    <a:pt x="670852" y="104849"/>
                  </a:cubicBezTo>
                  <a:lnTo>
                    <a:pt x="670852" y="104849"/>
                  </a:lnTo>
                  <a:cubicBezTo>
                    <a:pt x="670852" y="132656"/>
                    <a:pt x="659806" y="159325"/>
                    <a:pt x="640143" y="178988"/>
                  </a:cubicBezTo>
                  <a:cubicBezTo>
                    <a:pt x="620480" y="198651"/>
                    <a:pt x="593811" y="209697"/>
                    <a:pt x="566004" y="209697"/>
                  </a:cubicBezTo>
                  <a:lnTo>
                    <a:pt x="104849" y="209697"/>
                  </a:lnTo>
                  <a:cubicBezTo>
                    <a:pt x="77041" y="209697"/>
                    <a:pt x="50372" y="198651"/>
                    <a:pt x="30709" y="178988"/>
                  </a:cubicBezTo>
                  <a:cubicBezTo>
                    <a:pt x="11047" y="159325"/>
                    <a:pt x="0" y="132656"/>
                    <a:pt x="0" y="104849"/>
                  </a:cubicBezTo>
                  <a:lnTo>
                    <a:pt x="0" y="104849"/>
                  </a:lnTo>
                  <a:cubicBezTo>
                    <a:pt x="0" y="77041"/>
                    <a:pt x="11047" y="50372"/>
                    <a:pt x="30709" y="30709"/>
                  </a:cubicBezTo>
                  <a:cubicBezTo>
                    <a:pt x="50372" y="11047"/>
                    <a:pt x="77041" y="0"/>
                    <a:pt x="104849" y="0"/>
                  </a:cubicBezTo>
                  <a:close/>
                </a:path>
              </a:pathLst>
            </a:custGeom>
            <a:solidFill>
              <a:srgbClr val="EAF3B2"/>
            </a:solidFill>
            <a:ln w="28575" cap="rnd">
              <a:solidFill>
                <a:srgbClr val="29396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670852" cy="2477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-3807759" y="0"/>
            <a:ext cx="10501150" cy="10501150"/>
          </a:xfrm>
          <a:custGeom>
            <a:avLst/>
            <a:gdLst/>
            <a:ahLst/>
            <a:cxnLst/>
            <a:rect r="r" b="b" t="t" l="l"/>
            <a:pathLst>
              <a:path h="10501150" w="10501150">
                <a:moveTo>
                  <a:pt x="0" y="0"/>
                </a:moveTo>
                <a:lnTo>
                  <a:pt x="10501150" y="0"/>
                </a:lnTo>
                <a:lnTo>
                  <a:pt x="10501150" y="10501150"/>
                </a:lnTo>
                <a:lnTo>
                  <a:pt x="0" y="105011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092533" y="3196973"/>
            <a:ext cx="9457200" cy="5773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4328" indent="-392164" lvl="1">
              <a:lnSpc>
                <a:spcPts val="5085"/>
              </a:lnSpc>
              <a:buFont typeface="Arial"/>
              <a:buChar char="•"/>
            </a:pPr>
            <a:r>
              <a:rPr lang="en-US" sz="3632" spc="-116">
                <a:solidFill>
                  <a:srgbClr val="FEFEFB"/>
                </a:solidFill>
                <a:latin typeface="Poppins"/>
                <a:ea typeface="Poppins"/>
                <a:cs typeface="Poppins"/>
                <a:sym typeface="Poppins"/>
              </a:rPr>
              <a:t>On 9th October 2012, the Taliban shot her for speaking about education.</a:t>
            </a:r>
          </a:p>
          <a:p>
            <a:pPr algn="l" marL="784328" indent="-392164" lvl="1">
              <a:lnSpc>
                <a:spcPts val="5085"/>
              </a:lnSpc>
              <a:buFont typeface="Arial"/>
              <a:buChar char="•"/>
            </a:pPr>
            <a:r>
              <a:rPr lang="en-US" sz="3632" spc="-116">
                <a:solidFill>
                  <a:srgbClr val="FEFEFB"/>
                </a:solidFill>
                <a:latin typeface="Poppins"/>
                <a:ea typeface="Poppins"/>
                <a:cs typeface="Poppins"/>
                <a:sym typeface="Poppins"/>
              </a:rPr>
              <a:t>They wanted to silence her, but they failed her voice became stronger.</a:t>
            </a:r>
          </a:p>
          <a:p>
            <a:pPr algn="l" marL="784328" indent="-392164" lvl="1">
              <a:lnSpc>
                <a:spcPts val="5085"/>
              </a:lnSpc>
              <a:buFont typeface="Arial"/>
              <a:buChar char="•"/>
            </a:pPr>
            <a:r>
              <a:rPr lang="en-US" sz="3632" spc="-116">
                <a:solidFill>
                  <a:srgbClr val="FEFEFB"/>
                </a:solidFill>
                <a:latin typeface="Poppins"/>
                <a:ea typeface="Poppins"/>
                <a:cs typeface="Poppins"/>
                <a:sym typeface="Poppins"/>
              </a:rPr>
              <a:t>She said</a:t>
            </a:r>
            <a:r>
              <a:rPr lang="en-US" sz="3632" spc="-116">
                <a:solidFill>
                  <a:srgbClr val="FEFEFB"/>
                </a:solidFill>
                <a:latin typeface="Poppins"/>
                <a:ea typeface="Poppins"/>
                <a:cs typeface="Poppins"/>
                <a:sym typeface="Poppins"/>
              </a:rPr>
              <a:t>, “Weakness, fear, and hopelessness died. Strength, power, and courage were born.”</a:t>
            </a:r>
          </a:p>
          <a:p>
            <a:pPr algn="l" marL="784328" indent="-392164" lvl="1">
              <a:lnSpc>
                <a:spcPts val="5085"/>
              </a:lnSpc>
              <a:buFont typeface="Arial"/>
              <a:buChar char="•"/>
            </a:pPr>
            <a:r>
              <a:rPr lang="en-US" sz="3632" spc="-116">
                <a:solidFill>
                  <a:srgbClr val="FEFEFB"/>
                </a:solidFill>
                <a:latin typeface="Poppins"/>
                <a:ea typeface="Poppins"/>
                <a:cs typeface="Poppins"/>
                <a:sym typeface="Poppins"/>
              </a:rPr>
              <a:t>She declares that her ambitions, hopes, and dreams remain the same.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30400" y="438289"/>
            <a:ext cx="2547142" cy="631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6"/>
              </a:lnSpc>
            </a:pPr>
            <a:r>
              <a:rPr lang="en-US" sz="2800" spc="-252">
                <a:solidFill>
                  <a:srgbClr val="293960"/>
                </a:solidFill>
                <a:latin typeface="Montserrat"/>
                <a:ea typeface="Montserrat"/>
                <a:cs typeface="Montserrat"/>
                <a:sym typeface="Montserrat"/>
              </a:rPr>
              <a:t>/page 05</a:t>
            </a:r>
          </a:p>
          <a:p>
            <a:pPr algn="ctr">
              <a:lnSpc>
                <a:spcPts val="2436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8405062" y="842343"/>
            <a:ext cx="8521885" cy="2009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63"/>
              </a:lnSpc>
            </a:pPr>
            <a:r>
              <a:rPr lang="en-US" b="true" sz="8693" spc="-782">
                <a:solidFill>
                  <a:srgbClr val="FEFEF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Attack and Her Courage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62429" y="308417"/>
            <a:ext cx="2547142" cy="796194"/>
            <a:chOff x="0" y="0"/>
            <a:chExt cx="670852" cy="20969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70852" cy="209697"/>
            </a:xfrm>
            <a:custGeom>
              <a:avLst/>
              <a:gdLst/>
              <a:ahLst/>
              <a:cxnLst/>
              <a:rect r="r" b="b" t="t" l="l"/>
              <a:pathLst>
                <a:path h="209697" w="670852">
                  <a:moveTo>
                    <a:pt x="104849" y="0"/>
                  </a:moveTo>
                  <a:lnTo>
                    <a:pt x="566004" y="0"/>
                  </a:lnTo>
                  <a:cubicBezTo>
                    <a:pt x="593811" y="0"/>
                    <a:pt x="620480" y="11047"/>
                    <a:pt x="640143" y="30709"/>
                  </a:cubicBezTo>
                  <a:cubicBezTo>
                    <a:pt x="659806" y="50372"/>
                    <a:pt x="670852" y="77041"/>
                    <a:pt x="670852" y="104849"/>
                  </a:cubicBezTo>
                  <a:lnTo>
                    <a:pt x="670852" y="104849"/>
                  </a:lnTo>
                  <a:cubicBezTo>
                    <a:pt x="670852" y="132656"/>
                    <a:pt x="659806" y="159325"/>
                    <a:pt x="640143" y="178988"/>
                  </a:cubicBezTo>
                  <a:cubicBezTo>
                    <a:pt x="620480" y="198651"/>
                    <a:pt x="593811" y="209697"/>
                    <a:pt x="566004" y="209697"/>
                  </a:cubicBezTo>
                  <a:lnTo>
                    <a:pt x="104849" y="209697"/>
                  </a:lnTo>
                  <a:cubicBezTo>
                    <a:pt x="77041" y="209697"/>
                    <a:pt x="50372" y="198651"/>
                    <a:pt x="30709" y="178988"/>
                  </a:cubicBezTo>
                  <a:cubicBezTo>
                    <a:pt x="11047" y="159325"/>
                    <a:pt x="0" y="132656"/>
                    <a:pt x="0" y="104849"/>
                  </a:cubicBezTo>
                  <a:lnTo>
                    <a:pt x="0" y="104849"/>
                  </a:lnTo>
                  <a:cubicBezTo>
                    <a:pt x="0" y="77041"/>
                    <a:pt x="11047" y="50372"/>
                    <a:pt x="30709" y="30709"/>
                  </a:cubicBezTo>
                  <a:cubicBezTo>
                    <a:pt x="50372" y="11047"/>
                    <a:pt x="77041" y="0"/>
                    <a:pt x="104849" y="0"/>
                  </a:cubicBezTo>
                  <a:close/>
                </a:path>
              </a:pathLst>
            </a:custGeom>
            <a:solidFill>
              <a:srgbClr val="EAF3B2"/>
            </a:solidFill>
            <a:ln w="28575" cap="rnd">
              <a:solidFill>
                <a:srgbClr val="293960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670852" cy="2477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489431" y="446799"/>
            <a:ext cx="1293138" cy="47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 spc="-252">
                <a:solidFill>
                  <a:srgbClr val="1F244A"/>
                </a:solidFill>
                <a:latin typeface="Montserrat"/>
                <a:ea typeface="Montserrat"/>
                <a:cs typeface="Montserrat"/>
                <a:sym typeface="Montserrat"/>
              </a:rPr>
              <a:t>/page 06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3160681" y="918603"/>
            <a:ext cx="248891" cy="351169"/>
          </a:xfrm>
          <a:custGeom>
            <a:avLst/>
            <a:gdLst/>
            <a:ahLst/>
            <a:cxnLst/>
            <a:rect r="r" b="b" t="t" l="l"/>
            <a:pathLst>
              <a:path h="351169" w="248891">
                <a:moveTo>
                  <a:pt x="0" y="0"/>
                </a:moveTo>
                <a:lnTo>
                  <a:pt x="248890" y="0"/>
                </a:lnTo>
                <a:lnTo>
                  <a:pt x="248890" y="351169"/>
                </a:lnTo>
                <a:lnTo>
                  <a:pt x="0" y="35116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39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26881" y="8524663"/>
            <a:ext cx="11065766" cy="11065766"/>
          </a:xfrm>
          <a:custGeom>
            <a:avLst/>
            <a:gdLst/>
            <a:ahLst/>
            <a:cxnLst/>
            <a:rect r="r" b="b" t="t" l="l"/>
            <a:pathLst>
              <a:path h="11065766" w="11065766">
                <a:moveTo>
                  <a:pt x="0" y="0"/>
                </a:moveTo>
                <a:lnTo>
                  <a:pt x="11065766" y="0"/>
                </a:lnTo>
                <a:lnTo>
                  <a:pt x="11065766" y="11065766"/>
                </a:lnTo>
                <a:lnTo>
                  <a:pt x="0" y="110657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9659764" y="2851635"/>
            <a:ext cx="0" cy="1070674"/>
          </a:xfrm>
          <a:prstGeom prst="line">
            <a:avLst/>
          </a:prstGeom>
          <a:ln cap="flat" w="28575">
            <a:solidFill>
              <a:srgbClr val="29396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9659764" y="5713187"/>
            <a:ext cx="0" cy="1070674"/>
          </a:xfrm>
          <a:prstGeom prst="line">
            <a:avLst/>
          </a:prstGeom>
          <a:ln cap="flat" w="28575">
            <a:solidFill>
              <a:srgbClr val="29396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3409571" y="8970489"/>
            <a:ext cx="1162872" cy="575622"/>
          </a:xfrm>
          <a:custGeom>
            <a:avLst/>
            <a:gdLst/>
            <a:ahLst/>
            <a:cxnLst/>
            <a:rect r="r" b="b" t="t" l="l"/>
            <a:pathLst>
              <a:path h="575622" w="1162872">
                <a:moveTo>
                  <a:pt x="0" y="0"/>
                </a:moveTo>
                <a:lnTo>
                  <a:pt x="1162873" y="0"/>
                </a:lnTo>
                <a:lnTo>
                  <a:pt x="1162873" y="575622"/>
                </a:lnTo>
                <a:lnTo>
                  <a:pt x="0" y="575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3463607"/>
            <a:ext cx="16533002" cy="4484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10912" indent="-455456" lvl="1">
              <a:lnSpc>
                <a:spcPts val="5906"/>
              </a:lnSpc>
              <a:buFont typeface="Arial"/>
              <a:buChar char="•"/>
            </a:pPr>
            <a:r>
              <a:rPr lang="en-US" sz="4219" spc="-135">
                <a:solidFill>
                  <a:srgbClr val="FEFEFB"/>
                </a:solidFill>
                <a:latin typeface="Poppins"/>
                <a:ea typeface="Poppins"/>
                <a:cs typeface="Poppins"/>
                <a:sym typeface="Poppins"/>
              </a:rPr>
              <a:t>Malala says she is not against anyone, not even the Taliban. </a:t>
            </a:r>
            <a:r>
              <a:rPr lang="en-US" sz="4219" spc="-135">
                <a:solidFill>
                  <a:srgbClr val="FEFEFB"/>
                </a:solidFill>
                <a:latin typeface="Poppins"/>
                <a:ea typeface="Poppins"/>
                <a:cs typeface="Poppins"/>
                <a:sym typeface="Poppins"/>
              </a:rPr>
              <a:t>She believes in peace, forgiveness, and compassion.</a:t>
            </a:r>
          </a:p>
          <a:p>
            <a:pPr algn="l" marL="910912" indent="-455456" lvl="1">
              <a:lnSpc>
                <a:spcPts val="5906"/>
              </a:lnSpc>
              <a:buFont typeface="Arial"/>
              <a:buChar char="•"/>
            </a:pPr>
            <a:r>
              <a:rPr lang="en-US" sz="4219" spc="-135">
                <a:solidFill>
                  <a:srgbClr val="FEFEFB"/>
                </a:solidFill>
                <a:latin typeface="Poppins"/>
                <a:ea typeface="Poppins"/>
                <a:cs typeface="Poppins"/>
                <a:sym typeface="Poppins"/>
              </a:rPr>
              <a:t>Learned non violence from Prophet Muhammad, Jesus, Buddha, Gandhi, and Mother Teresa.</a:t>
            </a:r>
          </a:p>
          <a:p>
            <a:pPr algn="l" marL="910912" indent="-455456" lvl="1">
              <a:lnSpc>
                <a:spcPts val="5906"/>
              </a:lnSpc>
              <a:buFont typeface="Arial"/>
              <a:buChar char="•"/>
            </a:pPr>
            <a:r>
              <a:rPr lang="en-US" sz="4219" spc="-135">
                <a:solidFill>
                  <a:srgbClr val="FEFEFB"/>
                </a:solidFill>
                <a:latin typeface="Poppins"/>
                <a:ea typeface="Poppins"/>
                <a:cs typeface="Poppins"/>
                <a:sym typeface="Poppins"/>
              </a:rPr>
              <a:t>She said</a:t>
            </a:r>
            <a:r>
              <a:rPr lang="en-US" sz="4219" spc="-135">
                <a:solidFill>
                  <a:srgbClr val="FEFEFB"/>
                </a:solidFill>
                <a:latin typeface="Poppins"/>
                <a:ea typeface="Poppins"/>
                <a:cs typeface="Poppins"/>
                <a:sym typeface="Poppins"/>
              </a:rPr>
              <a:t>: “Be peaceful and love everyone.”</a:t>
            </a:r>
          </a:p>
          <a:p>
            <a:pPr algn="l">
              <a:lnSpc>
                <a:spcPts val="5906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169245" y="9258300"/>
            <a:ext cx="2547142" cy="796194"/>
            <a:chOff x="0" y="0"/>
            <a:chExt cx="670852" cy="20969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70852" cy="209697"/>
            </a:xfrm>
            <a:custGeom>
              <a:avLst/>
              <a:gdLst/>
              <a:ahLst/>
              <a:cxnLst/>
              <a:rect r="r" b="b" t="t" l="l"/>
              <a:pathLst>
                <a:path h="209697" w="670852">
                  <a:moveTo>
                    <a:pt x="104849" y="0"/>
                  </a:moveTo>
                  <a:lnTo>
                    <a:pt x="566004" y="0"/>
                  </a:lnTo>
                  <a:cubicBezTo>
                    <a:pt x="593811" y="0"/>
                    <a:pt x="620480" y="11047"/>
                    <a:pt x="640143" y="30709"/>
                  </a:cubicBezTo>
                  <a:cubicBezTo>
                    <a:pt x="659806" y="50372"/>
                    <a:pt x="670852" y="77041"/>
                    <a:pt x="670852" y="104849"/>
                  </a:cubicBezTo>
                  <a:lnTo>
                    <a:pt x="670852" y="104849"/>
                  </a:lnTo>
                  <a:cubicBezTo>
                    <a:pt x="670852" y="132656"/>
                    <a:pt x="659806" y="159325"/>
                    <a:pt x="640143" y="178988"/>
                  </a:cubicBezTo>
                  <a:cubicBezTo>
                    <a:pt x="620480" y="198651"/>
                    <a:pt x="593811" y="209697"/>
                    <a:pt x="566004" y="209697"/>
                  </a:cubicBezTo>
                  <a:lnTo>
                    <a:pt x="104849" y="209697"/>
                  </a:lnTo>
                  <a:cubicBezTo>
                    <a:pt x="77041" y="209697"/>
                    <a:pt x="50372" y="198651"/>
                    <a:pt x="30709" y="178988"/>
                  </a:cubicBezTo>
                  <a:cubicBezTo>
                    <a:pt x="11047" y="159325"/>
                    <a:pt x="0" y="132656"/>
                    <a:pt x="0" y="104849"/>
                  </a:cubicBezTo>
                  <a:lnTo>
                    <a:pt x="0" y="104849"/>
                  </a:lnTo>
                  <a:cubicBezTo>
                    <a:pt x="0" y="77041"/>
                    <a:pt x="11047" y="50372"/>
                    <a:pt x="30709" y="30709"/>
                  </a:cubicBezTo>
                  <a:cubicBezTo>
                    <a:pt x="50372" y="11047"/>
                    <a:pt x="77041" y="0"/>
                    <a:pt x="104849" y="0"/>
                  </a:cubicBezTo>
                  <a:close/>
                </a:path>
              </a:pathLst>
            </a:custGeom>
            <a:solidFill>
              <a:srgbClr val="EAF3B2"/>
            </a:solidFill>
            <a:ln w="28575" cap="rnd">
              <a:solidFill>
                <a:srgbClr val="29396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670852" cy="2477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69245" y="9527650"/>
            <a:ext cx="2547142" cy="631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6"/>
              </a:lnSpc>
            </a:pPr>
            <a:r>
              <a:rPr lang="en-US" sz="2800" spc="-252">
                <a:solidFill>
                  <a:srgbClr val="293960"/>
                </a:solidFill>
                <a:latin typeface="Montserrat"/>
                <a:ea typeface="Montserrat"/>
                <a:cs typeface="Montserrat"/>
                <a:sym typeface="Montserrat"/>
              </a:rPr>
              <a:t>/page 07</a:t>
            </a:r>
          </a:p>
          <a:p>
            <a:pPr algn="ctr">
              <a:lnSpc>
                <a:spcPts val="2436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441830" y="1645661"/>
            <a:ext cx="16119872" cy="984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90"/>
              </a:lnSpc>
            </a:pPr>
            <a:r>
              <a:rPr lang="en-US" b="true" sz="8149" spc="-733">
                <a:solidFill>
                  <a:srgbClr val="FEFEF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Message of Forgiveness and Peace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2305240" y="9546111"/>
            <a:ext cx="248891" cy="351169"/>
          </a:xfrm>
          <a:custGeom>
            <a:avLst/>
            <a:gdLst/>
            <a:ahLst/>
            <a:cxnLst/>
            <a:rect r="r" b="b" t="t" l="l"/>
            <a:pathLst>
              <a:path h="351169" w="248891">
                <a:moveTo>
                  <a:pt x="0" y="0"/>
                </a:moveTo>
                <a:lnTo>
                  <a:pt x="248891" y="0"/>
                </a:lnTo>
                <a:lnTo>
                  <a:pt x="248891" y="351168"/>
                </a:lnTo>
                <a:lnTo>
                  <a:pt x="0" y="3511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39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9659764" y="2851635"/>
            <a:ext cx="0" cy="1070674"/>
          </a:xfrm>
          <a:prstGeom prst="line">
            <a:avLst/>
          </a:prstGeom>
          <a:ln cap="flat" w="28575">
            <a:solidFill>
              <a:srgbClr val="29396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9659764" y="5713187"/>
            <a:ext cx="0" cy="1070674"/>
          </a:xfrm>
          <a:prstGeom prst="line">
            <a:avLst/>
          </a:prstGeom>
          <a:ln cap="flat" w="28575">
            <a:solidFill>
              <a:srgbClr val="29396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3409571" y="8970489"/>
            <a:ext cx="1162872" cy="575622"/>
          </a:xfrm>
          <a:custGeom>
            <a:avLst/>
            <a:gdLst/>
            <a:ahLst/>
            <a:cxnLst/>
            <a:rect r="r" b="b" t="t" l="l"/>
            <a:pathLst>
              <a:path h="575622" w="1162872">
                <a:moveTo>
                  <a:pt x="0" y="0"/>
                </a:moveTo>
                <a:lnTo>
                  <a:pt x="1162873" y="0"/>
                </a:lnTo>
                <a:lnTo>
                  <a:pt x="1162873" y="575622"/>
                </a:lnTo>
                <a:lnTo>
                  <a:pt x="0" y="5756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032607" y="989758"/>
            <a:ext cx="12573746" cy="1048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63"/>
              </a:lnSpc>
            </a:pPr>
            <a:r>
              <a:rPr lang="en-US" b="true" sz="8693" spc="-782">
                <a:solidFill>
                  <a:srgbClr val="FEFEF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Her Voice for Every Child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60235" y="2361257"/>
            <a:ext cx="16230600" cy="6162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40303" indent="-470152" lvl="1">
              <a:lnSpc>
                <a:spcPts val="6097"/>
              </a:lnSpc>
              <a:buFont typeface="Arial"/>
              <a:buChar char="•"/>
            </a:pPr>
            <a:r>
              <a:rPr lang="en-US" sz="4355" spc="-139">
                <a:solidFill>
                  <a:srgbClr val="FEFEFB"/>
                </a:solidFill>
                <a:latin typeface="Poppins"/>
                <a:ea typeface="Poppins"/>
                <a:cs typeface="Poppins"/>
                <a:sym typeface="Poppins"/>
              </a:rPr>
              <a:t>Malala says she speaks not for herself, but for all girls and boys.</a:t>
            </a:r>
          </a:p>
          <a:p>
            <a:pPr algn="l" marL="940303" indent="-470152" lvl="1">
              <a:lnSpc>
                <a:spcPts val="6097"/>
              </a:lnSpc>
              <a:buFont typeface="Arial"/>
              <a:buChar char="•"/>
            </a:pPr>
            <a:r>
              <a:rPr lang="en-US" sz="4355" spc="-139">
                <a:solidFill>
                  <a:srgbClr val="FEFEFB"/>
                </a:solidFill>
                <a:latin typeface="Poppins"/>
                <a:ea typeface="Poppins"/>
                <a:cs typeface="Poppins"/>
                <a:sym typeface="Poppins"/>
              </a:rPr>
              <a:t>She raises her voice for those without a voice.</a:t>
            </a:r>
          </a:p>
          <a:p>
            <a:pPr algn="l" marL="940303" indent="-470152" lvl="1">
              <a:lnSpc>
                <a:spcPts val="6097"/>
              </a:lnSpc>
              <a:buFont typeface="Arial"/>
              <a:buChar char="•"/>
            </a:pPr>
            <a:r>
              <a:rPr lang="en-US" sz="4355" spc="-139">
                <a:solidFill>
                  <a:srgbClr val="FEFEFB"/>
                </a:solidFill>
                <a:latin typeface="Poppins"/>
                <a:ea typeface="Poppins"/>
                <a:cs typeface="Poppins"/>
                <a:sym typeface="Poppins"/>
              </a:rPr>
              <a:t>She stands for human rights  the right to live in peace, dignity, equality, and education.</a:t>
            </a:r>
          </a:p>
          <a:p>
            <a:pPr algn="l" marL="940303" indent="-470152" lvl="1">
              <a:lnSpc>
                <a:spcPts val="6097"/>
              </a:lnSpc>
              <a:buFont typeface="Arial"/>
              <a:buChar char="•"/>
            </a:pPr>
            <a:r>
              <a:rPr lang="en-US" sz="4355" spc="-139">
                <a:solidFill>
                  <a:srgbClr val="FEFEFB"/>
                </a:solidFill>
                <a:latin typeface="Poppins"/>
                <a:ea typeface="Poppins"/>
                <a:cs typeface="Poppins"/>
                <a:sym typeface="Poppins"/>
              </a:rPr>
              <a:t>Reminds everyone that millions suffer under terrorism, but still fight for justice.</a:t>
            </a:r>
          </a:p>
          <a:p>
            <a:pPr algn="l">
              <a:lnSpc>
                <a:spcPts val="6097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169245" y="9258300"/>
            <a:ext cx="2547142" cy="796194"/>
            <a:chOff x="0" y="0"/>
            <a:chExt cx="670852" cy="20969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70852" cy="209697"/>
            </a:xfrm>
            <a:custGeom>
              <a:avLst/>
              <a:gdLst/>
              <a:ahLst/>
              <a:cxnLst/>
              <a:rect r="r" b="b" t="t" l="l"/>
              <a:pathLst>
                <a:path h="209697" w="670852">
                  <a:moveTo>
                    <a:pt x="104849" y="0"/>
                  </a:moveTo>
                  <a:lnTo>
                    <a:pt x="566004" y="0"/>
                  </a:lnTo>
                  <a:cubicBezTo>
                    <a:pt x="593811" y="0"/>
                    <a:pt x="620480" y="11047"/>
                    <a:pt x="640143" y="30709"/>
                  </a:cubicBezTo>
                  <a:cubicBezTo>
                    <a:pt x="659806" y="50372"/>
                    <a:pt x="670852" y="77041"/>
                    <a:pt x="670852" y="104849"/>
                  </a:cubicBezTo>
                  <a:lnTo>
                    <a:pt x="670852" y="104849"/>
                  </a:lnTo>
                  <a:cubicBezTo>
                    <a:pt x="670852" y="132656"/>
                    <a:pt x="659806" y="159325"/>
                    <a:pt x="640143" y="178988"/>
                  </a:cubicBezTo>
                  <a:cubicBezTo>
                    <a:pt x="620480" y="198651"/>
                    <a:pt x="593811" y="209697"/>
                    <a:pt x="566004" y="209697"/>
                  </a:cubicBezTo>
                  <a:lnTo>
                    <a:pt x="104849" y="209697"/>
                  </a:lnTo>
                  <a:cubicBezTo>
                    <a:pt x="77041" y="209697"/>
                    <a:pt x="50372" y="198651"/>
                    <a:pt x="30709" y="178988"/>
                  </a:cubicBezTo>
                  <a:cubicBezTo>
                    <a:pt x="11047" y="159325"/>
                    <a:pt x="0" y="132656"/>
                    <a:pt x="0" y="104849"/>
                  </a:cubicBezTo>
                  <a:lnTo>
                    <a:pt x="0" y="104849"/>
                  </a:lnTo>
                  <a:cubicBezTo>
                    <a:pt x="0" y="77041"/>
                    <a:pt x="11047" y="50372"/>
                    <a:pt x="30709" y="30709"/>
                  </a:cubicBezTo>
                  <a:cubicBezTo>
                    <a:pt x="50372" y="11047"/>
                    <a:pt x="77041" y="0"/>
                    <a:pt x="104849" y="0"/>
                  </a:cubicBezTo>
                  <a:close/>
                </a:path>
              </a:pathLst>
            </a:custGeom>
            <a:solidFill>
              <a:srgbClr val="EAF3B2"/>
            </a:solidFill>
            <a:ln w="28575" cap="rnd">
              <a:solidFill>
                <a:srgbClr val="29396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670852" cy="2477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69245" y="9527650"/>
            <a:ext cx="2547142" cy="631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6"/>
              </a:lnSpc>
            </a:pPr>
            <a:r>
              <a:rPr lang="en-US" sz="2800" spc="-252">
                <a:solidFill>
                  <a:srgbClr val="293960"/>
                </a:solidFill>
                <a:latin typeface="Montserrat"/>
                <a:ea typeface="Montserrat"/>
                <a:cs typeface="Montserrat"/>
                <a:sym typeface="Montserrat"/>
              </a:rPr>
              <a:t>/page 08</a:t>
            </a:r>
          </a:p>
          <a:p>
            <a:pPr algn="ctr">
              <a:lnSpc>
                <a:spcPts val="2436"/>
              </a:lnSpc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2467496" y="9546111"/>
            <a:ext cx="248891" cy="351169"/>
          </a:xfrm>
          <a:custGeom>
            <a:avLst/>
            <a:gdLst/>
            <a:ahLst/>
            <a:cxnLst/>
            <a:rect r="r" b="b" t="t" l="l"/>
            <a:pathLst>
              <a:path h="351169" w="248891">
                <a:moveTo>
                  <a:pt x="0" y="0"/>
                </a:moveTo>
                <a:lnTo>
                  <a:pt x="248891" y="0"/>
                </a:lnTo>
                <a:lnTo>
                  <a:pt x="248891" y="351168"/>
                </a:lnTo>
                <a:lnTo>
                  <a:pt x="0" y="3511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39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9659764" y="2851635"/>
            <a:ext cx="0" cy="1070674"/>
          </a:xfrm>
          <a:prstGeom prst="line">
            <a:avLst/>
          </a:prstGeom>
          <a:ln cap="flat" w="28575">
            <a:solidFill>
              <a:srgbClr val="29396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9659764" y="5713187"/>
            <a:ext cx="0" cy="1070674"/>
          </a:xfrm>
          <a:prstGeom prst="line">
            <a:avLst/>
          </a:prstGeom>
          <a:ln cap="flat" w="28575">
            <a:solidFill>
              <a:srgbClr val="29396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3409571" y="8970489"/>
            <a:ext cx="1162872" cy="575622"/>
          </a:xfrm>
          <a:custGeom>
            <a:avLst/>
            <a:gdLst/>
            <a:ahLst/>
            <a:cxnLst/>
            <a:rect r="r" b="b" t="t" l="l"/>
            <a:pathLst>
              <a:path h="575622" w="1162872">
                <a:moveTo>
                  <a:pt x="0" y="0"/>
                </a:moveTo>
                <a:lnTo>
                  <a:pt x="1162873" y="0"/>
                </a:lnTo>
                <a:lnTo>
                  <a:pt x="1162873" y="575622"/>
                </a:lnTo>
                <a:lnTo>
                  <a:pt x="0" y="5756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783787"/>
            <a:ext cx="16451955" cy="967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41"/>
              </a:lnSpc>
            </a:pPr>
            <a:r>
              <a:rPr lang="en-US" b="true" sz="8094" spc="-728">
                <a:solidFill>
                  <a:srgbClr val="FEFEF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Power of Education and Women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351732"/>
            <a:ext cx="16564019" cy="7080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59620" indent="-479810" lvl="1">
              <a:lnSpc>
                <a:spcPts val="6222"/>
              </a:lnSpc>
              <a:buFont typeface="Arial"/>
              <a:buChar char="•"/>
            </a:pPr>
            <a:r>
              <a:rPr lang="en-US" sz="4444" spc="-142">
                <a:solidFill>
                  <a:srgbClr val="FEFEFB"/>
                </a:solidFill>
                <a:latin typeface="Poppins"/>
                <a:ea typeface="Poppins"/>
                <a:cs typeface="Poppins"/>
                <a:sym typeface="Poppins"/>
              </a:rPr>
              <a:t>She says we understand the value of light after darkness  and of education after ignorance.</a:t>
            </a:r>
          </a:p>
          <a:p>
            <a:pPr algn="l" marL="959620" indent="-479810" lvl="1">
              <a:lnSpc>
                <a:spcPts val="6222"/>
              </a:lnSpc>
              <a:buFont typeface="Arial"/>
              <a:buChar char="•"/>
            </a:pPr>
            <a:r>
              <a:rPr lang="en-US" sz="4444" spc="-142">
                <a:solidFill>
                  <a:srgbClr val="FEFEFB"/>
                </a:solidFill>
                <a:latin typeface="Poppins"/>
                <a:ea typeface="Poppins"/>
                <a:cs typeface="Poppins"/>
                <a:sym typeface="Poppins"/>
              </a:rPr>
              <a:t>“The pen is mightier than the sword” extremists fear books and pens.</a:t>
            </a:r>
          </a:p>
          <a:p>
            <a:pPr algn="l" marL="959620" indent="-479810" lvl="1">
              <a:lnSpc>
                <a:spcPts val="6222"/>
              </a:lnSpc>
              <a:buFont typeface="Arial"/>
              <a:buChar char="•"/>
            </a:pPr>
            <a:r>
              <a:rPr lang="en-US" sz="4444" spc="-142">
                <a:solidFill>
                  <a:srgbClr val="FEFEFB"/>
                </a:solidFill>
                <a:latin typeface="Poppins"/>
                <a:ea typeface="Poppins"/>
                <a:cs typeface="Poppins"/>
                <a:sym typeface="Poppins"/>
              </a:rPr>
              <a:t>They fear educated women and voices of change.</a:t>
            </a:r>
          </a:p>
          <a:p>
            <a:pPr algn="l" marL="959620" indent="-479810" lvl="1">
              <a:lnSpc>
                <a:spcPts val="6222"/>
              </a:lnSpc>
              <a:buFont typeface="Arial"/>
              <a:buChar char="•"/>
            </a:pPr>
            <a:r>
              <a:rPr lang="en-US" sz="4444" spc="-142">
                <a:solidFill>
                  <a:srgbClr val="FEFEFB"/>
                </a:solidFill>
                <a:latin typeface="Poppins"/>
                <a:ea typeface="Poppins"/>
                <a:cs typeface="Poppins"/>
                <a:sym typeface="Poppins"/>
              </a:rPr>
              <a:t>She m</a:t>
            </a:r>
            <a:r>
              <a:rPr lang="en-US" sz="4444" spc="-142">
                <a:solidFill>
                  <a:srgbClr val="FEFEFB"/>
                </a:solidFill>
                <a:latin typeface="Poppins"/>
                <a:ea typeface="Poppins"/>
                <a:cs typeface="Poppins"/>
                <a:sym typeface="Poppins"/>
              </a:rPr>
              <a:t>entions that many teachers, students, and workers were killed because extremists feared equality.</a:t>
            </a:r>
          </a:p>
          <a:p>
            <a:pPr algn="l">
              <a:lnSpc>
                <a:spcPts val="6222"/>
              </a:lnSpc>
            </a:pPr>
          </a:p>
          <a:p>
            <a:pPr algn="l">
              <a:lnSpc>
                <a:spcPts val="6222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169245" y="9258300"/>
            <a:ext cx="2547142" cy="796194"/>
            <a:chOff x="0" y="0"/>
            <a:chExt cx="670852" cy="20969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70852" cy="209697"/>
            </a:xfrm>
            <a:custGeom>
              <a:avLst/>
              <a:gdLst/>
              <a:ahLst/>
              <a:cxnLst/>
              <a:rect r="r" b="b" t="t" l="l"/>
              <a:pathLst>
                <a:path h="209697" w="670852">
                  <a:moveTo>
                    <a:pt x="104849" y="0"/>
                  </a:moveTo>
                  <a:lnTo>
                    <a:pt x="566004" y="0"/>
                  </a:lnTo>
                  <a:cubicBezTo>
                    <a:pt x="593811" y="0"/>
                    <a:pt x="620480" y="11047"/>
                    <a:pt x="640143" y="30709"/>
                  </a:cubicBezTo>
                  <a:cubicBezTo>
                    <a:pt x="659806" y="50372"/>
                    <a:pt x="670852" y="77041"/>
                    <a:pt x="670852" y="104849"/>
                  </a:cubicBezTo>
                  <a:lnTo>
                    <a:pt x="670852" y="104849"/>
                  </a:lnTo>
                  <a:cubicBezTo>
                    <a:pt x="670852" y="132656"/>
                    <a:pt x="659806" y="159325"/>
                    <a:pt x="640143" y="178988"/>
                  </a:cubicBezTo>
                  <a:cubicBezTo>
                    <a:pt x="620480" y="198651"/>
                    <a:pt x="593811" y="209697"/>
                    <a:pt x="566004" y="209697"/>
                  </a:cubicBezTo>
                  <a:lnTo>
                    <a:pt x="104849" y="209697"/>
                  </a:lnTo>
                  <a:cubicBezTo>
                    <a:pt x="77041" y="209697"/>
                    <a:pt x="50372" y="198651"/>
                    <a:pt x="30709" y="178988"/>
                  </a:cubicBezTo>
                  <a:cubicBezTo>
                    <a:pt x="11047" y="159325"/>
                    <a:pt x="0" y="132656"/>
                    <a:pt x="0" y="104849"/>
                  </a:cubicBezTo>
                  <a:lnTo>
                    <a:pt x="0" y="104849"/>
                  </a:lnTo>
                  <a:cubicBezTo>
                    <a:pt x="0" y="77041"/>
                    <a:pt x="11047" y="50372"/>
                    <a:pt x="30709" y="30709"/>
                  </a:cubicBezTo>
                  <a:cubicBezTo>
                    <a:pt x="50372" y="11047"/>
                    <a:pt x="77041" y="0"/>
                    <a:pt x="104849" y="0"/>
                  </a:cubicBezTo>
                  <a:close/>
                </a:path>
              </a:pathLst>
            </a:custGeom>
            <a:solidFill>
              <a:srgbClr val="EAF3B2"/>
            </a:solidFill>
            <a:ln w="28575" cap="rnd">
              <a:solidFill>
                <a:srgbClr val="29396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670852" cy="2477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69245" y="9527650"/>
            <a:ext cx="2547142" cy="631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6"/>
              </a:lnSpc>
            </a:pPr>
            <a:r>
              <a:rPr lang="en-US" sz="2800" spc="-252">
                <a:solidFill>
                  <a:srgbClr val="293960"/>
                </a:solidFill>
                <a:latin typeface="Montserrat"/>
                <a:ea typeface="Montserrat"/>
                <a:cs typeface="Montserrat"/>
                <a:sym typeface="Montserrat"/>
              </a:rPr>
              <a:t>/page 09</a:t>
            </a:r>
          </a:p>
          <a:p>
            <a:pPr algn="ctr">
              <a:lnSpc>
                <a:spcPts val="2436"/>
              </a:lnSpc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2153858" y="9703325"/>
            <a:ext cx="248891" cy="351169"/>
          </a:xfrm>
          <a:custGeom>
            <a:avLst/>
            <a:gdLst/>
            <a:ahLst/>
            <a:cxnLst/>
            <a:rect r="r" b="b" t="t" l="l"/>
            <a:pathLst>
              <a:path h="351169" w="248891">
                <a:moveTo>
                  <a:pt x="0" y="0"/>
                </a:moveTo>
                <a:lnTo>
                  <a:pt x="248890" y="0"/>
                </a:lnTo>
                <a:lnTo>
                  <a:pt x="248890" y="351169"/>
                </a:lnTo>
                <a:lnTo>
                  <a:pt x="0" y="3511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39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9659764" y="2851635"/>
            <a:ext cx="0" cy="1070674"/>
          </a:xfrm>
          <a:prstGeom prst="line">
            <a:avLst/>
          </a:prstGeom>
          <a:ln cap="flat" w="28575">
            <a:solidFill>
              <a:srgbClr val="29396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9659764" y="5713187"/>
            <a:ext cx="0" cy="1070674"/>
          </a:xfrm>
          <a:prstGeom prst="line">
            <a:avLst/>
          </a:prstGeom>
          <a:ln cap="flat" w="28575">
            <a:solidFill>
              <a:srgbClr val="29396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3409571" y="8970489"/>
            <a:ext cx="1162872" cy="575622"/>
          </a:xfrm>
          <a:custGeom>
            <a:avLst/>
            <a:gdLst/>
            <a:ahLst/>
            <a:cxnLst/>
            <a:rect r="r" b="b" t="t" l="l"/>
            <a:pathLst>
              <a:path h="575622" w="1162872">
                <a:moveTo>
                  <a:pt x="0" y="0"/>
                </a:moveTo>
                <a:lnTo>
                  <a:pt x="1162873" y="0"/>
                </a:lnTo>
                <a:lnTo>
                  <a:pt x="1162873" y="575622"/>
                </a:lnTo>
                <a:lnTo>
                  <a:pt x="0" y="5756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29722" y="630603"/>
            <a:ext cx="2547142" cy="796194"/>
            <a:chOff x="0" y="0"/>
            <a:chExt cx="670852" cy="20969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70852" cy="209697"/>
            </a:xfrm>
            <a:custGeom>
              <a:avLst/>
              <a:gdLst/>
              <a:ahLst/>
              <a:cxnLst/>
              <a:rect r="r" b="b" t="t" l="l"/>
              <a:pathLst>
                <a:path h="209697" w="670852">
                  <a:moveTo>
                    <a:pt x="104849" y="0"/>
                  </a:moveTo>
                  <a:lnTo>
                    <a:pt x="566004" y="0"/>
                  </a:lnTo>
                  <a:cubicBezTo>
                    <a:pt x="593811" y="0"/>
                    <a:pt x="620480" y="11047"/>
                    <a:pt x="640143" y="30709"/>
                  </a:cubicBezTo>
                  <a:cubicBezTo>
                    <a:pt x="659806" y="50372"/>
                    <a:pt x="670852" y="77041"/>
                    <a:pt x="670852" y="104849"/>
                  </a:cubicBezTo>
                  <a:lnTo>
                    <a:pt x="670852" y="104849"/>
                  </a:lnTo>
                  <a:cubicBezTo>
                    <a:pt x="670852" y="132656"/>
                    <a:pt x="659806" y="159325"/>
                    <a:pt x="640143" y="178988"/>
                  </a:cubicBezTo>
                  <a:cubicBezTo>
                    <a:pt x="620480" y="198651"/>
                    <a:pt x="593811" y="209697"/>
                    <a:pt x="566004" y="209697"/>
                  </a:cubicBezTo>
                  <a:lnTo>
                    <a:pt x="104849" y="209697"/>
                  </a:lnTo>
                  <a:cubicBezTo>
                    <a:pt x="77041" y="209697"/>
                    <a:pt x="50372" y="198651"/>
                    <a:pt x="30709" y="178988"/>
                  </a:cubicBezTo>
                  <a:cubicBezTo>
                    <a:pt x="11047" y="159325"/>
                    <a:pt x="0" y="132656"/>
                    <a:pt x="0" y="104849"/>
                  </a:cubicBezTo>
                  <a:lnTo>
                    <a:pt x="0" y="104849"/>
                  </a:lnTo>
                  <a:cubicBezTo>
                    <a:pt x="0" y="77041"/>
                    <a:pt x="11047" y="50372"/>
                    <a:pt x="30709" y="30709"/>
                  </a:cubicBezTo>
                  <a:cubicBezTo>
                    <a:pt x="50372" y="11047"/>
                    <a:pt x="77041" y="0"/>
                    <a:pt x="104849" y="0"/>
                  </a:cubicBezTo>
                  <a:close/>
                </a:path>
              </a:pathLst>
            </a:custGeom>
            <a:solidFill>
              <a:srgbClr val="EAF3B2"/>
            </a:solidFill>
            <a:ln w="28575" cap="rnd">
              <a:solidFill>
                <a:srgbClr val="29396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70852" cy="2477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29722" y="888112"/>
            <a:ext cx="2547142" cy="631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6"/>
              </a:lnSpc>
            </a:pPr>
            <a:r>
              <a:rPr lang="en-US" sz="2800" spc="-252">
                <a:solidFill>
                  <a:srgbClr val="293960"/>
                </a:solidFill>
                <a:latin typeface="Montserrat"/>
                <a:ea typeface="Montserrat"/>
                <a:cs typeface="Montserrat"/>
                <a:sym typeface="Montserrat"/>
              </a:rPr>
              <a:t>/page 10</a:t>
            </a:r>
          </a:p>
          <a:p>
            <a:pPr algn="ctr">
              <a:lnSpc>
                <a:spcPts val="2436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3769909"/>
            <a:ext cx="16805034" cy="4555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1"/>
              </a:lnSpc>
            </a:pPr>
            <a:r>
              <a:rPr lang="en-US" sz="5136" spc="-164">
                <a:solidFill>
                  <a:srgbClr val="FEFEFB"/>
                </a:solidFill>
                <a:latin typeface="Poppins"/>
                <a:ea typeface="Poppins"/>
                <a:cs typeface="Poppins"/>
                <a:sym typeface="Poppins"/>
              </a:rPr>
              <a:t>She tells a story of a boy who said: “A Talib doesn’t know what is written inside this book.” </a:t>
            </a:r>
            <a:r>
              <a:rPr lang="en-US" sz="5136" spc="-164">
                <a:solidFill>
                  <a:srgbClr val="FEFEFB"/>
                </a:solidFill>
                <a:latin typeface="Poppins"/>
                <a:ea typeface="Poppins"/>
                <a:cs typeface="Poppins"/>
                <a:sym typeface="Poppins"/>
              </a:rPr>
              <a:t>She s</a:t>
            </a:r>
            <a:r>
              <a:rPr lang="en-US" sz="5136" spc="-164">
                <a:solidFill>
                  <a:srgbClr val="FEFEFB"/>
                </a:solidFill>
                <a:latin typeface="Poppins"/>
                <a:ea typeface="Poppins"/>
                <a:cs typeface="Poppins"/>
                <a:sym typeface="Poppins"/>
              </a:rPr>
              <a:t>ays Islam supports education, peace, and equality, not terrorism.</a:t>
            </a:r>
          </a:p>
          <a:p>
            <a:pPr algn="l">
              <a:lnSpc>
                <a:spcPts val="7191"/>
              </a:lnSpc>
            </a:pPr>
          </a:p>
          <a:p>
            <a:pPr algn="l">
              <a:lnSpc>
                <a:spcPts val="7191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2431393" y="1251213"/>
            <a:ext cx="248891" cy="351169"/>
          </a:xfrm>
          <a:custGeom>
            <a:avLst/>
            <a:gdLst/>
            <a:ahLst/>
            <a:cxnLst/>
            <a:rect r="r" b="b" t="t" l="l"/>
            <a:pathLst>
              <a:path h="351169" w="248891">
                <a:moveTo>
                  <a:pt x="0" y="0"/>
                </a:moveTo>
                <a:lnTo>
                  <a:pt x="248891" y="0"/>
                </a:lnTo>
                <a:lnTo>
                  <a:pt x="248891" y="351168"/>
                </a:lnTo>
                <a:lnTo>
                  <a:pt x="0" y="3511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714956" y="690514"/>
            <a:ext cx="11425101" cy="1269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49"/>
              </a:lnSpc>
            </a:pPr>
            <a:r>
              <a:rPr lang="en-US" b="true" sz="10516" spc="-946">
                <a:solidFill>
                  <a:srgbClr val="29396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Her Final Message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5570327" y="9130785"/>
            <a:ext cx="2080376" cy="670041"/>
            <a:chOff x="0" y="0"/>
            <a:chExt cx="547918" cy="17647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7918" cy="176472"/>
            </a:xfrm>
            <a:custGeom>
              <a:avLst/>
              <a:gdLst/>
              <a:ahLst/>
              <a:cxnLst/>
              <a:rect r="r" b="b" t="t" l="l"/>
              <a:pathLst>
                <a:path h="176472" w="547918">
                  <a:moveTo>
                    <a:pt x="88236" y="0"/>
                  </a:moveTo>
                  <a:lnTo>
                    <a:pt x="459682" y="0"/>
                  </a:lnTo>
                  <a:cubicBezTo>
                    <a:pt x="483084" y="0"/>
                    <a:pt x="505527" y="9296"/>
                    <a:pt x="522074" y="25844"/>
                  </a:cubicBezTo>
                  <a:cubicBezTo>
                    <a:pt x="538622" y="42391"/>
                    <a:pt x="547918" y="64834"/>
                    <a:pt x="547918" y="88236"/>
                  </a:cubicBezTo>
                  <a:lnTo>
                    <a:pt x="547918" y="88236"/>
                  </a:lnTo>
                  <a:cubicBezTo>
                    <a:pt x="547918" y="136967"/>
                    <a:pt x="508413" y="176472"/>
                    <a:pt x="459682" y="176472"/>
                  </a:cubicBezTo>
                  <a:lnTo>
                    <a:pt x="88236" y="176472"/>
                  </a:lnTo>
                  <a:cubicBezTo>
                    <a:pt x="39505" y="176472"/>
                    <a:pt x="0" y="136967"/>
                    <a:pt x="0" y="88236"/>
                  </a:cubicBezTo>
                  <a:lnTo>
                    <a:pt x="0" y="88236"/>
                  </a:lnTo>
                  <a:cubicBezTo>
                    <a:pt x="0" y="39505"/>
                    <a:pt x="39505" y="0"/>
                    <a:pt x="88236" y="0"/>
                  </a:cubicBezTo>
                  <a:close/>
                </a:path>
              </a:pathLst>
            </a:custGeom>
            <a:solidFill>
              <a:srgbClr val="9FBAF1"/>
            </a:solidFill>
            <a:ln w="28575" cap="rnd">
              <a:solidFill>
                <a:srgbClr val="293960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47918" cy="21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5336944" y="9349981"/>
            <a:ext cx="2547142" cy="326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6"/>
              </a:lnSpc>
            </a:pPr>
            <a:r>
              <a:rPr lang="en-US" sz="2800" spc="-252">
                <a:solidFill>
                  <a:srgbClr val="293960"/>
                </a:solidFill>
                <a:latin typeface="Montserrat"/>
                <a:ea typeface="Montserrat"/>
                <a:cs typeface="Montserrat"/>
                <a:sym typeface="Montserrat"/>
              </a:rPr>
              <a:t>/page 11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7401812" y="9625242"/>
            <a:ext cx="248891" cy="351169"/>
          </a:xfrm>
          <a:custGeom>
            <a:avLst/>
            <a:gdLst/>
            <a:ahLst/>
            <a:cxnLst/>
            <a:rect r="r" b="b" t="t" l="l"/>
            <a:pathLst>
              <a:path h="351169" w="248891">
                <a:moveTo>
                  <a:pt x="0" y="0"/>
                </a:moveTo>
                <a:lnTo>
                  <a:pt x="248891" y="0"/>
                </a:lnTo>
                <a:lnTo>
                  <a:pt x="248891" y="351169"/>
                </a:lnTo>
                <a:lnTo>
                  <a:pt x="0" y="3511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2084991" y="7316955"/>
            <a:ext cx="12010881" cy="12010881"/>
          </a:xfrm>
          <a:custGeom>
            <a:avLst/>
            <a:gdLst/>
            <a:ahLst/>
            <a:cxnLst/>
            <a:rect r="r" b="b" t="t" l="l"/>
            <a:pathLst>
              <a:path h="12010881" w="12010881">
                <a:moveTo>
                  <a:pt x="0" y="0"/>
                </a:moveTo>
                <a:lnTo>
                  <a:pt x="12010881" y="0"/>
                </a:lnTo>
                <a:lnTo>
                  <a:pt x="12010881" y="12010880"/>
                </a:lnTo>
                <a:lnTo>
                  <a:pt x="0" y="120108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23010" y="1622581"/>
            <a:ext cx="3197440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spc="-315" b="true">
                <a:solidFill>
                  <a:srgbClr val="293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point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27139" y="3298041"/>
            <a:ext cx="15856947" cy="5960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10912" indent="-455456" lvl="1">
              <a:lnSpc>
                <a:spcPts val="5906"/>
              </a:lnSpc>
              <a:buFont typeface="Arial"/>
              <a:buChar char="•"/>
            </a:pPr>
            <a:r>
              <a:rPr lang="en-US" sz="4219" spc="-135">
                <a:solidFill>
                  <a:srgbClr val="1F244A"/>
                </a:solidFill>
                <a:latin typeface="Poppins"/>
                <a:ea typeface="Poppins"/>
                <a:cs typeface="Poppins"/>
                <a:sym typeface="Poppins"/>
              </a:rPr>
              <a:t>She emphasizes that peace is necessary for education. </a:t>
            </a:r>
            <a:r>
              <a:rPr lang="en-US" sz="4219" spc="-135">
                <a:solidFill>
                  <a:srgbClr val="1F244A"/>
                </a:solidFill>
                <a:latin typeface="Poppins"/>
                <a:ea typeface="Poppins"/>
                <a:cs typeface="Poppins"/>
                <a:sym typeface="Poppins"/>
              </a:rPr>
              <a:t>Wars and conflicts stop children from learning.</a:t>
            </a:r>
          </a:p>
          <a:p>
            <a:pPr algn="l" marL="910912" indent="-455456" lvl="1">
              <a:lnSpc>
                <a:spcPts val="5906"/>
              </a:lnSpc>
              <a:buFont typeface="Arial"/>
              <a:buChar char="•"/>
            </a:pPr>
            <a:r>
              <a:rPr lang="en-US" sz="4219" spc="-135">
                <a:solidFill>
                  <a:srgbClr val="1F244A"/>
                </a:solidFill>
                <a:latin typeface="Poppins"/>
                <a:ea typeface="Poppins"/>
                <a:cs typeface="Poppins"/>
                <a:sym typeface="Poppins"/>
              </a:rPr>
              <a:t>Women and children suffer the most, as poverty, injustice, and ignorance are global problems.</a:t>
            </a:r>
          </a:p>
          <a:p>
            <a:pPr algn="l" marL="910912" indent="-455456" lvl="1">
              <a:lnSpc>
                <a:spcPts val="5906"/>
              </a:lnSpc>
              <a:buFont typeface="Arial"/>
              <a:buChar char="•"/>
            </a:pPr>
            <a:r>
              <a:rPr lang="en-US" sz="4219" spc="-135">
                <a:solidFill>
                  <a:srgbClr val="1F244A"/>
                </a:solidFill>
                <a:latin typeface="Poppins"/>
                <a:ea typeface="Poppins"/>
                <a:cs typeface="Poppins"/>
                <a:sym typeface="Poppins"/>
              </a:rPr>
              <a:t>Calls for women’s rights and girls’ education.</a:t>
            </a:r>
          </a:p>
          <a:p>
            <a:pPr algn="l">
              <a:lnSpc>
                <a:spcPts val="5906"/>
              </a:lnSpc>
            </a:pPr>
          </a:p>
          <a:p>
            <a:pPr algn="l">
              <a:lnSpc>
                <a:spcPts val="5906"/>
              </a:lnSpc>
            </a:pPr>
          </a:p>
          <a:p>
            <a:pPr algn="l">
              <a:lnSpc>
                <a:spcPts val="5906"/>
              </a:lnSpc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424886" y="1565796"/>
            <a:ext cx="2547142" cy="796194"/>
            <a:chOff x="0" y="0"/>
            <a:chExt cx="670852" cy="20969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70852" cy="209697"/>
            </a:xfrm>
            <a:custGeom>
              <a:avLst/>
              <a:gdLst/>
              <a:ahLst/>
              <a:cxnLst/>
              <a:rect r="r" b="b" t="t" l="l"/>
              <a:pathLst>
                <a:path h="209697" w="670852">
                  <a:moveTo>
                    <a:pt x="104849" y="0"/>
                  </a:moveTo>
                  <a:lnTo>
                    <a:pt x="566004" y="0"/>
                  </a:lnTo>
                  <a:cubicBezTo>
                    <a:pt x="593811" y="0"/>
                    <a:pt x="620480" y="11047"/>
                    <a:pt x="640143" y="30709"/>
                  </a:cubicBezTo>
                  <a:cubicBezTo>
                    <a:pt x="659806" y="50372"/>
                    <a:pt x="670852" y="77041"/>
                    <a:pt x="670852" y="104849"/>
                  </a:cubicBezTo>
                  <a:lnTo>
                    <a:pt x="670852" y="104849"/>
                  </a:lnTo>
                  <a:cubicBezTo>
                    <a:pt x="670852" y="132656"/>
                    <a:pt x="659806" y="159325"/>
                    <a:pt x="640143" y="178988"/>
                  </a:cubicBezTo>
                  <a:cubicBezTo>
                    <a:pt x="620480" y="198651"/>
                    <a:pt x="593811" y="209697"/>
                    <a:pt x="566004" y="209697"/>
                  </a:cubicBezTo>
                  <a:lnTo>
                    <a:pt x="104849" y="209697"/>
                  </a:lnTo>
                  <a:cubicBezTo>
                    <a:pt x="77041" y="209697"/>
                    <a:pt x="50372" y="198651"/>
                    <a:pt x="30709" y="178988"/>
                  </a:cubicBezTo>
                  <a:cubicBezTo>
                    <a:pt x="11047" y="159325"/>
                    <a:pt x="0" y="132656"/>
                    <a:pt x="0" y="104849"/>
                  </a:cubicBezTo>
                  <a:lnTo>
                    <a:pt x="0" y="104849"/>
                  </a:lnTo>
                  <a:cubicBezTo>
                    <a:pt x="0" y="77041"/>
                    <a:pt x="11047" y="50372"/>
                    <a:pt x="30709" y="30709"/>
                  </a:cubicBezTo>
                  <a:cubicBezTo>
                    <a:pt x="50372" y="11047"/>
                    <a:pt x="77041" y="0"/>
                    <a:pt x="104849" y="0"/>
                  </a:cubicBezTo>
                  <a:close/>
                </a:path>
              </a:pathLst>
            </a:custGeom>
            <a:solidFill>
              <a:srgbClr val="EAF3B2"/>
            </a:solidFill>
            <a:ln w="28575" cap="rnd">
              <a:solidFill>
                <a:srgbClr val="29396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670852" cy="2477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723010" y="1622581"/>
            <a:ext cx="3197440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spc="-315" b="true">
                <a:solidFill>
                  <a:srgbClr val="293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point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39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9659764" y="2851635"/>
            <a:ext cx="0" cy="1070674"/>
          </a:xfrm>
          <a:prstGeom prst="line">
            <a:avLst/>
          </a:prstGeom>
          <a:ln cap="flat" w="28575">
            <a:solidFill>
              <a:srgbClr val="29396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9659764" y="5713187"/>
            <a:ext cx="0" cy="1070674"/>
          </a:xfrm>
          <a:prstGeom prst="line">
            <a:avLst/>
          </a:prstGeom>
          <a:ln cap="flat" w="28575">
            <a:solidFill>
              <a:srgbClr val="29396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3409571" y="8970489"/>
            <a:ext cx="1162872" cy="575622"/>
          </a:xfrm>
          <a:custGeom>
            <a:avLst/>
            <a:gdLst/>
            <a:ahLst/>
            <a:cxnLst/>
            <a:rect r="r" b="b" t="t" l="l"/>
            <a:pathLst>
              <a:path h="575622" w="1162872">
                <a:moveTo>
                  <a:pt x="0" y="0"/>
                </a:moveTo>
                <a:lnTo>
                  <a:pt x="1162873" y="0"/>
                </a:lnTo>
                <a:lnTo>
                  <a:pt x="1162873" y="575622"/>
                </a:lnTo>
                <a:lnTo>
                  <a:pt x="0" y="5756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29722" y="630603"/>
            <a:ext cx="2547142" cy="796194"/>
            <a:chOff x="0" y="0"/>
            <a:chExt cx="670852" cy="20969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70852" cy="209697"/>
            </a:xfrm>
            <a:custGeom>
              <a:avLst/>
              <a:gdLst/>
              <a:ahLst/>
              <a:cxnLst/>
              <a:rect r="r" b="b" t="t" l="l"/>
              <a:pathLst>
                <a:path h="209697" w="670852">
                  <a:moveTo>
                    <a:pt x="104849" y="0"/>
                  </a:moveTo>
                  <a:lnTo>
                    <a:pt x="566004" y="0"/>
                  </a:lnTo>
                  <a:cubicBezTo>
                    <a:pt x="593811" y="0"/>
                    <a:pt x="620480" y="11047"/>
                    <a:pt x="640143" y="30709"/>
                  </a:cubicBezTo>
                  <a:cubicBezTo>
                    <a:pt x="659806" y="50372"/>
                    <a:pt x="670852" y="77041"/>
                    <a:pt x="670852" y="104849"/>
                  </a:cubicBezTo>
                  <a:lnTo>
                    <a:pt x="670852" y="104849"/>
                  </a:lnTo>
                  <a:cubicBezTo>
                    <a:pt x="670852" y="132656"/>
                    <a:pt x="659806" y="159325"/>
                    <a:pt x="640143" y="178988"/>
                  </a:cubicBezTo>
                  <a:cubicBezTo>
                    <a:pt x="620480" y="198651"/>
                    <a:pt x="593811" y="209697"/>
                    <a:pt x="566004" y="209697"/>
                  </a:cubicBezTo>
                  <a:lnTo>
                    <a:pt x="104849" y="209697"/>
                  </a:lnTo>
                  <a:cubicBezTo>
                    <a:pt x="77041" y="209697"/>
                    <a:pt x="50372" y="198651"/>
                    <a:pt x="30709" y="178988"/>
                  </a:cubicBezTo>
                  <a:cubicBezTo>
                    <a:pt x="11047" y="159325"/>
                    <a:pt x="0" y="132656"/>
                    <a:pt x="0" y="104849"/>
                  </a:cubicBezTo>
                  <a:lnTo>
                    <a:pt x="0" y="104849"/>
                  </a:lnTo>
                  <a:cubicBezTo>
                    <a:pt x="0" y="77041"/>
                    <a:pt x="11047" y="50372"/>
                    <a:pt x="30709" y="30709"/>
                  </a:cubicBezTo>
                  <a:cubicBezTo>
                    <a:pt x="50372" y="11047"/>
                    <a:pt x="77041" y="0"/>
                    <a:pt x="104849" y="0"/>
                  </a:cubicBezTo>
                  <a:close/>
                </a:path>
              </a:pathLst>
            </a:custGeom>
            <a:solidFill>
              <a:srgbClr val="EAF3B2"/>
            </a:solidFill>
            <a:ln w="28575" cap="rnd">
              <a:solidFill>
                <a:srgbClr val="29396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70852" cy="2477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29722" y="888112"/>
            <a:ext cx="2547142" cy="326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6"/>
              </a:lnSpc>
            </a:pPr>
            <a:r>
              <a:rPr lang="en-US" sz="2800" spc="-252">
                <a:solidFill>
                  <a:srgbClr val="293960"/>
                </a:solidFill>
                <a:latin typeface="Montserrat"/>
                <a:ea typeface="Montserrat"/>
                <a:cs typeface="Montserrat"/>
                <a:sym typeface="Montserrat"/>
              </a:rPr>
              <a:t>/page 12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67896" y="3442853"/>
            <a:ext cx="16383735" cy="3572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49"/>
              </a:lnSpc>
            </a:pPr>
            <a:r>
              <a:rPr lang="en-US" sz="4035" spc="-129">
                <a:solidFill>
                  <a:srgbClr val="FEFEFB"/>
                </a:solidFill>
                <a:latin typeface="Poppins"/>
                <a:ea typeface="Poppins"/>
                <a:cs typeface="Poppins"/>
                <a:sym typeface="Poppins"/>
              </a:rPr>
              <a:t>Her speech ends with a powerful call to action, she urges women to be brave, communities to reject prejudice, and everyone to fight illiteracy, poverty, and terrorism. Her message is clear ;  through unity, education, and equality, we can build a peaceful future.</a:t>
            </a:r>
          </a:p>
          <a:p>
            <a:pPr algn="l">
              <a:lnSpc>
                <a:spcPts val="5649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2431393" y="1251213"/>
            <a:ext cx="248891" cy="351169"/>
          </a:xfrm>
          <a:custGeom>
            <a:avLst/>
            <a:gdLst/>
            <a:ahLst/>
            <a:cxnLst/>
            <a:rect r="r" b="b" t="t" l="l"/>
            <a:pathLst>
              <a:path h="351169" w="248891">
                <a:moveTo>
                  <a:pt x="0" y="0"/>
                </a:moveTo>
                <a:lnTo>
                  <a:pt x="248891" y="0"/>
                </a:lnTo>
                <a:lnTo>
                  <a:pt x="248891" y="351168"/>
                </a:lnTo>
                <a:lnTo>
                  <a:pt x="0" y="3511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556593" y="-108997"/>
            <a:ext cx="10504994" cy="10504994"/>
          </a:xfrm>
          <a:custGeom>
            <a:avLst/>
            <a:gdLst/>
            <a:ahLst/>
            <a:cxnLst/>
            <a:rect r="r" b="b" t="t" l="l"/>
            <a:pathLst>
              <a:path h="10504994" w="10504994">
                <a:moveTo>
                  <a:pt x="0" y="0"/>
                </a:moveTo>
                <a:lnTo>
                  <a:pt x="10504994" y="0"/>
                </a:lnTo>
                <a:lnTo>
                  <a:pt x="10504994" y="10504994"/>
                </a:lnTo>
                <a:lnTo>
                  <a:pt x="0" y="105049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39599" y="-108997"/>
            <a:ext cx="10504994" cy="10504994"/>
          </a:xfrm>
          <a:custGeom>
            <a:avLst/>
            <a:gdLst/>
            <a:ahLst/>
            <a:cxnLst/>
            <a:rect r="r" b="b" t="t" l="l"/>
            <a:pathLst>
              <a:path h="10504994" w="10504994">
                <a:moveTo>
                  <a:pt x="0" y="0"/>
                </a:moveTo>
                <a:lnTo>
                  <a:pt x="10504994" y="0"/>
                </a:lnTo>
                <a:lnTo>
                  <a:pt x="10504994" y="10504994"/>
                </a:lnTo>
                <a:lnTo>
                  <a:pt x="0" y="105049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237186" y="2855405"/>
            <a:ext cx="11813628" cy="5291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15"/>
              </a:lnSpc>
            </a:pPr>
            <a:r>
              <a:rPr lang="en-US" b="true" sz="26399" spc="-1108">
                <a:solidFill>
                  <a:srgbClr val="293960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Thank you.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589681" y="9742153"/>
            <a:ext cx="6956189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5"/>
              </a:lnSpc>
            </a:pPr>
            <a:r>
              <a:rPr lang="en-US" sz="2500" spc="-225">
                <a:solidFill>
                  <a:srgbClr val="293960"/>
                </a:solidFill>
                <a:latin typeface="Montserrat"/>
                <a:ea typeface="Montserrat"/>
                <a:cs typeface="Montserrat"/>
                <a:sym typeface="Montserrat"/>
              </a:rPr>
              <a:t>© PrinceTimilsina 2025. All rights reserved.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589681" y="1114425"/>
            <a:ext cx="510863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5"/>
              </a:lnSpc>
            </a:pPr>
            <a:r>
              <a:rPr lang="en-US" sz="2500" spc="-225">
                <a:solidFill>
                  <a:srgbClr val="293960"/>
                </a:solidFill>
                <a:latin typeface="Montserrat"/>
                <a:ea typeface="Montserrat"/>
                <a:cs typeface="Montserrat"/>
                <a:sym typeface="Montserrat"/>
              </a:rPr>
              <a:t>Kathmandu Bernhardt College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DAG2re0vtYU</dc:identifier>
  <dcterms:modified xsi:type="dcterms:W3CDTF">2011-08-01T06:04:30Z</dcterms:modified>
  <cp:revision>1</cp:revision>
  <dc:title>Blue and Yellow Modern Group Project Presentation</dc:title>
</cp:coreProperties>
</file>